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 team here. Selected problem statement: students see many college events but lack reliable information to discover, evaluate, compare and review them. EventRank is a one-college web MVP covering all campus categories. The fictional demo campus is Northbridge University. Replace the team placeholders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users are college students, especially first-years, busy commuters and students pursuing learning, career, social, cultural or sporting goals. Clubs and departments are secondary beneficiaries because smaller events gain relevant visibility. These are product hypotheses, not findings from a completed survey. The gap is decision quality: existing announcement channels broadcast information but do not combine relevance, comparison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student loop, not a disconnected feature list. Students set optional preferences, browse or search, inspect logistics and score reasons, compare competing events, save or register and leave feedback afterward. Explanations are deterministic and tied to available signals; example reasons on the slide illustrate the design. Review eligibility, reporting and registration are represented in API code; some client persistence and database integration still need completion. Do not describe RSVP as proof of verified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implementation is a Next.js-first application with a Neon Postgres system of record and an optional FastAPI/sentence-transformer seam for semantic retrieval. OAuth supplies identity and JWT-backed sessions. EventRank is not an opaque AI score: structured filters and deterministic weights produce the final ranking, while semantic matching can improve candidate retrieval. PostgreSQL full-text search remains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USP is not “we use AI.” The USP is relevant, explainable and community-informed event decisions. Expected impact should be framed as a hypothesis to validate in a pilot, not as a measured result. Scalability begins with the college-scoped schema, curated catalog and deterministic ranking; later additions can include organizer self-service, calendar integrations, richer analytics and multi-campus tenancy.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working prototype and the execution discipline. The MVP prioritizes a stable student flow: browse, search, score, compare, save/register and review. The timeline is a proposal for the 24-hour round. Team members and the final campus identity should be inserted before submission. If a feature slips, protect event discovery, score explanations, compare, save and deployment stability before stretch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event-rank-two.vercel.app/"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E"/>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B7C0D2"/>
                </a:solidFill>
                <a:latin typeface="Aptos" pitchFamily="34" charset="0"/>
                <a:ea typeface="Aptos" pitchFamily="34" charset="-122"/>
                <a:cs typeface="Aptos" pitchFamily="34" charset="-120"/>
              </a:rPr>
              <a:t>TEAM &amp; IDEA</a:t>
            </a:r>
            <a:endParaRPr lang="en-US" sz="1000" dirty="0"/>
          </a:p>
        </p:txBody>
      </p:sp>
      <p:sp>
        <p:nvSpPr>
          <p:cNvPr id="4" name="Shape 2"/>
          <p:cNvSpPr/>
          <p:nvPr/>
        </p:nvSpPr>
        <p:spPr>
          <a:xfrm>
            <a:off x="548640" y="6473952"/>
            <a:ext cx="11091672" cy="0"/>
          </a:xfrm>
          <a:prstGeom prst="line">
            <a:avLst/>
          </a:prstGeom>
          <a:noFill/>
          <a:ln w="8890">
            <a:solidFill>
              <a:srgbClr val="354059"/>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B7C0D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B7C0D2"/>
                </a:solidFill>
                <a:latin typeface="Aptos" pitchFamily="34" charset="0"/>
                <a:ea typeface="Aptos" pitchFamily="34" charset="-122"/>
                <a:cs typeface="Aptos" pitchFamily="34" charset="-120"/>
              </a:rPr>
              <a:t>01 / 06</a:t>
            </a:r>
            <a:endParaRPr lang="en-US" sz="1000" dirty="0"/>
          </a:p>
        </p:txBody>
      </p:sp>
      <p:sp>
        <p:nvSpPr>
          <p:cNvPr id="7" name="Text 5"/>
          <p:cNvSpPr/>
          <p:nvPr/>
        </p:nvSpPr>
        <p:spPr>
          <a:xfrm>
            <a:off x="548640" y="987552"/>
            <a:ext cx="54864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ONE CAMPUS. BETTER CHOICES.</a:t>
            </a:r>
            <a:endParaRPr lang="en-US" sz="1000" dirty="0"/>
          </a:p>
        </p:txBody>
      </p:sp>
      <p:sp>
        <p:nvSpPr>
          <p:cNvPr id="8" name="Text 6"/>
          <p:cNvSpPr/>
          <p:nvPr/>
        </p:nvSpPr>
        <p:spPr>
          <a:xfrm>
            <a:off x="530352" y="1444752"/>
            <a:ext cx="6583680" cy="932688"/>
          </a:xfrm>
          <a:prstGeom prst="rect">
            <a:avLst/>
          </a:prstGeom>
          <a:noFill/>
          <a:ln/>
        </p:spPr>
        <p:txBody>
          <a:bodyPr wrap="square" lIns="0" tIns="0" rIns="0" bIns="0" rtlCol="0" anchor="ctr"/>
          <a:lstStyle/>
          <a:p>
            <a:pPr indent="0" marL="0">
              <a:buNone/>
            </a:pPr>
            <a:r>
              <a:rPr lang="en-US" sz="6200" b="1" dirty="0">
                <a:solidFill>
                  <a:srgbClr val="FFFFFF"/>
                </a:solidFill>
                <a:latin typeface="Aptos Display" pitchFamily="34" charset="0"/>
                <a:ea typeface="Aptos Display" pitchFamily="34" charset="-122"/>
                <a:cs typeface="Aptos Display" pitchFamily="34" charset="-120"/>
              </a:rPr>
              <a:t>EventRank</a:t>
            </a:r>
            <a:endParaRPr lang="en-US" sz="6200" dirty="0"/>
          </a:p>
        </p:txBody>
      </p:sp>
      <p:sp>
        <p:nvSpPr>
          <p:cNvPr id="9" name="Text 7"/>
          <p:cNvSpPr/>
          <p:nvPr/>
        </p:nvSpPr>
        <p:spPr>
          <a:xfrm>
            <a:off x="566928" y="2596896"/>
            <a:ext cx="6428232" cy="1289304"/>
          </a:xfrm>
          <a:prstGeom prst="rect">
            <a:avLst/>
          </a:prstGeom>
          <a:noFill/>
          <a:ln/>
        </p:spPr>
        <p:txBody>
          <a:bodyPr wrap="square" lIns="0" tIns="0" rIns="0" bIns="0" rtlCol="0" anchor="ctr"/>
          <a:lstStyle/>
          <a:p>
            <a:pPr indent="0" marL="0">
              <a:buNone/>
            </a:pPr>
            <a:r>
              <a:rPr lang="en-US" sz="3600" b="1" dirty="0">
                <a:solidFill>
                  <a:srgbClr val="FFFFFF"/>
                </a:solidFill>
                <a:latin typeface="Aptos" pitchFamily="34" charset="0"/>
                <a:ea typeface="Aptos" pitchFamily="34" charset="-122"/>
                <a:cs typeface="Aptos" pitchFamily="34" charset="-120"/>
              </a:rPr>
              <a:t>Discover what’s</a:t>
            </a:r>
            <a:endParaRPr lang="en-US" sz="3600" dirty="0"/>
          </a:p>
          <a:p>
            <a:pPr indent="0" marL="0">
              <a:buNone/>
            </a:pPr>
            <a:r>
              <a:rPr lang="en-US" sz="3600" b="1" dirty="0">
                <a:solidFill>
                  <a:srgbClr val="FFFFFF"/>
                </a:solidFill>
                <a:latin typeface="Aptos" pitchFamily="34" charset="0"/>
                <a:ea typeface="Aptos" pitchFamily="34" charset="-122"/>
                <a:cs typeface="Aptos" pitchFamily="34" charset="-120"/>
              </a:rPr>
              <a:t>worth attending.</a:t>
            </a:r>
            <a:endParaRPr lang="en-US" sz="3600" dirty="0"/>
          </a:p>
        </p:txBody>
      </p:sp>
      <p:sp>
        <p:nvSpPr>
          <p:cNvPr id="10" name="Text 8"/>
          <p:cNvSpPr/>
          <p:nvPr/>
        </p:nvSpPr>
        <p:spPr>
          <a:xfrm>
            <a:off x="594360" y="4133088"/>
            <a:ext cx="6035040" cy="685800"/>
          </a:xfrm>
          <a:prstGeom prst="rect">
            <a:avLst/>
          </a:prstGeom>
          <a:noFill/>
          <a:ln/>
        </p:spPr>
        <p:txBody>
          <a:bodyPr wrap="square" lIns="0" tIns="0" rIns="0" bIns="0" rtlCol="0" anchor="ctr"/>
          <a:lstStyle/>
          <a:p>
            <a:pPr indent="0" marL="0">
              <a:buNone/>
            </a:pPr>
            <a:r>
              <a:rPr lang="en-US" sz="1900" dirty="0">
                <a:solidFill>
                  <a:srgbClr val="B7C0D2"/>
                </a:solidFill>
                <a:latin typeface="Aptos" pitchFamily="34" charset="0"/>
                <a:ea typeface="Aptos" pitchFamily="34" charset="-122"/>
                <a:cs typeface="Aptos" pitchFamily="34" charset="-120"/>
              </a:rPr>
              <a:t>Personalized event discovery, clear comparisons</a:t>
            </a:r>
            <a:endParaRPr lang="en-US" sz="1900" dirty="0"/>
          </a:p>
          <a:p>
            <a:pPr indent="0" marL="0">
              <a:buNone/>
            </a:pPr>
            <a:r>
              <a:rPr lang="en-US" sz="1900" dirty="0">
                <a:solidFill>
                  <a:srgbClr val="B7C0D2"/>
                </a:solidFill>
                <a:latin typeface="Aptos" pitchFamily="34" charset="0"/>
                <a:ea typeface="Aptos" pitchFamily="34" charset="-122"/>
                <a:cs typeface="Aptos" pitchFamily="34" charset="-120"/>
              </a:rPr>
              <a:t>and student feedback — in one place.</a:t>
            </a:r>
            <a:endParaRPr lang="en-US" sz="1900" dirty="0"/>
          </a:p>
        </p:txBody>
      </p:sp>
      <p:sp>
        <p:nvSpPr>
          <p:cNvPr id="11" name="Shape 9"/>
          <p:cNvSpPr/>
          <p:nvPr/>
        </p:nvSpPr>
        <p:spPr>
          <a:xfrm>
            <a:off x="594360" y="5047488"/>
            <a:ext cx="1755648" cy="283464"/>
          </a:xfrm>
          <a:prstGeom prst="roundRect">
            <a:avLst>
              <a:gd name="adj" fmla="val 41935"/>
            </a:avLst>
          </a:prstGeom>
          <a:solidFill>
            <a:srgbClr val="20283C"/>
          </a:solidFill>
          <a:ln w="8890">
            <a:solidFill>
              <a:srgbClr val="20283C"/>
            </a:solidFill>
            <a:prstDash val="solid"/>
          </a:ln>
        </p:spPr>
      </p:sp>
      <p:sp>
        <p:nvSpPr>
          <p:cNvPr id="12" name="Text 10"/>
          <p:cNvSpPr/>
          <p:nvPr/>
        </p:nvSpPr>
        <p:spPr>
          <a:xfrm>
            <a:off x="658368" y="5061204"/>
            <a:ext cx="1627632" cy="256032"/>
          </a:xfrm>
          <a:prstGeom prst="rect">
            <a:avLst/>
          </a:prstGeom>
          <a:noFill/>
          <a:ln/>
        </p:spPr>
        <p:txBody>
          <a:bodyPr wrap="square" lIns="0" tIns="0" rIns="0" bIns="0" rtlCol="0" anchor="ctr"/>
          <a:lstStyle/>
          <a:p>
            <a:pPr algn="ctr" indent="0" marL="0">
              <a:buNone/>
            </a:pPr>
            <a:r>
              <a:rPr lang="en-US" sz="1000" b="1" dirty="0">
                <a:solidFill>
                  <a:srgbClr val="C5ED3C"/>
                </a:solidFill>
                <a:latin typeface="Aptos" pitchFamily="34" charset="0"/>
                <a:ea typeface="Aptos" pitchFamily="34" charset="-122"/>
                <a:cs typeface="Aptos" pitchFamily="34" charset="-120"/>
              </a:rPr>
              <a:t>ONE-COLLEGE MVP</a:t>
            </a:r>
            <a:endParaRPr lang="en-US" sz="1000" dirty="0"/>
          </a:p>
        </p:txBody>
      </p:sp>
      <p:sp>
        <p:nvSpPr>
          <p:cNvPr id="13" name="Shape 11"/>
          <p:cNvSpPr/>
          <p:nvPr/>
        </p:nvSpPr>
        <p:spPr>
          <a:xfrm>
            <a:off x="2505456" y="5047488"/>
            <a:ext cx="1920240" cy="283464"/>
          </a:xfrm>
          <a:prstGeom prst="roundRect">
            <a:avLst>
              <a:gd name="adj" fmla="val 41935"/>
            </a:avLst>
          </a:prstGeom>
          <a:solidFill>
            <a:srgbClr val="20283C"/>
          </a:solidFill>
          <a:ln w="8890">
            <a:solidFill>
              <a:srgbClr val="20283C"/>
            </a:solidFill>
            <a:prstDash val="solid"/>
          </a:ln>
        </p:spPr>
      </p:sp>
      <p:sp>
        <p:nvSpPr>
          <p:cNvPr id="14" name="Text 12"/>
          <p:cNvSpPr/>
          <p:nvPr/>
        </p:nvSpPr>
        <p:spPr>
          <a:xfrm>
            <a:off x="2569464" y="5061204"/>
            <a:ext cx="179222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ALL CAMPUS EVENTS</a:t>
            </a:r>
            <a:endParaRPr lang="en-US" sz="1000" dirty="0"/>
          </a:p>
        </p:txBody>
      </p:sp>
      <p:sp>
        <p:nvSpPr>
          <p:cNvPr id="15" name="Text 13"/>
          <p:cNvSpPr/>
          <p:nvPr/>
        </p:nvSpPr>
        <p:spPr>
          <a:xfrm>
            <a:off x="594360" y="5687568"/>
            <a:ext cx="731520" cy="201168"/>
          </a:xfrm>
          <a:prstGeom prst="rect">
            <a:avLst/>
          </a:prstGeom>
          <a:noFill/>
          <a:ln/>
        </p:spPr>
        <p:txBody>
          <a:bodyPr wrap="square" lIns="0" tIns="0" rIns="0" bIns="0" rtlCol="0" anchor="ctr"/>
          <a:lstStyle/>
          <a:p>
            <a:pPr indent="0" marL="0">
              <a:buNone/>
            </a:pPr>
            <a:r>
              <a:rPr lang="en-US" sz="1000" b="1" spc="170" kern="0" dirty="0">
                <a:solidFill>
                  <a:srgbClr val="B7C0D2"/>
                </a:solidFill>
                <a:latin typeface="Aptos" pitchFamily="34" charset="0"/>
                <a:ea typeface="Aptos" pitchFamily="34" charset="-122"/>
                <a:cs typeface="Aptos" pitchFamily="34" charset="-120"/>
              </a:rPr>
              <a:t>TEAM</a:t>
            </a:r>
            <a:endParaRPr lang="en-US" sz="1000" dirty="0"/>
          </a:p>
        </p:txBody>
      </p:sp>
      <p:sp>
        <p:nvSpPr>
          <p:cNvPr id="16" name="Text 14"/>
          <p:cNvSpPr/>
          <p:nvPr/>
        </p:nvSpPr>
        <p:spPr>
          <a:xfrm>
            <a:off x="1280160" y="5650992"/>
            <a:ext cx="5330952" cy="310896"/>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[TEAM NAME]  •  [ADD MEMBER NAMES]</a:t>
            </a:r>
            <a:endParaRPr lang="en-US" sz="1400" dirty="0"/>
          </a:p>
        </p:txBody>
      </p:sp>
      <p:sp>
        <p:nvSpPr>
          <p:cNvPr id="17" name="Text 15"/>
          <p:cNvSpPr/>
          <p:nvPr/>
        </p:nvSpPr>
        <p:spPr>
          <a:xfrm>
            <a:off x="594360" y="6053328"/>
            <a:ext cx="6126480" cy="201168"/>
          </a:xfrm>
          <a:prstGeom prst="rect">
            <a:avLst/>
          </a:prstGeom>
          <a:noFill/>
          <a:ln/>
        </p:spPr>
        <p:txBody>
          <a:bodyPr wrap="square" lIns="0" tIns="0" rIns="0" bIns="0" rtlCol="0" anchor="ctr"/>
          <a:lstStyle/>
          <a:p>
            <a:pPr indent="0" marL="0">
              <a:buNone/>
            </a:pPr>
            <a:r>
              <a:rPr lang="en-US" sz="900" b="1" dirty="0">
                <a:solidFill>
                  <a:srgbClr val="B7C0D2"/>
                </a:solidFill>
                <a:latin typeface="Aptos" pitchFamily="34" charset="0"/>
                <a:ea typeface="Aptos" pitchFamily="34" charset="-122"/>
                <a:cs typeface="Aptos" pitchFamily="34" charset="-120"/>
              </a:rPr>
              <a:t>PS 3 — EventRank: Discover What’s Worth Attending</a:t>
            </a:r>
            <a:endParaRPr lang="en-US" sz="900" dirty="0"/>
          </a:p>
        </p:txBody>
      </p:sp>
      <p:sp>
        <p:nvSpPr>
          <p:cNvPr id="18" name="Shape 16"/>
          <p:cNvSpPr/>
          <p:nvPr/>
        </p:nvSpPr>
        <p:spPr>
          <a:xfrm>
            <a:off x="7452360" y="1124712"/>
            <a:ext cx="4178808" cy="4882896"/>
          </a:xfrm>
          <a:prstGeom prst="roundRect">
            <a:avLst>
              <a:gd name="adj" fmla="val 2845"/>
            </a:avLst>
          </a:prstGeom>
          <a:solidFill>
            <a:srgbClr val="20283C"/>
          </a:solidFill>
          <a:ln w="8890">
            <a:solidFill>
              <a:srgbClr val="20283C"/>
            </a:solidFill>
            <a:prstDash val="solid"/>
          </a:ln>
        </p:spPr>
      </p:sp>
      <p:sp>
        <p:nvSpPr>
          <p:cNvPr id="19" name="Text 17"/>
          <p:cNvSpPr/>
          <p:nvPr/>
        </p:nvSpPr>
        <p:spPr>
          <a:xfrm>
            <a:off x="7781544" y="1508760"/>
            <a:ext cx="3502152" cy="201168"/>
          </a:xfrm>
          <a:prstGeom prst="rect">
            <a:avLst/>
          </a:prstGeom>
          <a:noFill/>
          <a:ln/>
        </p:spPr>
        <p:txBody>
          <a:bodyPr wrap="square" lIns="0" tIns="0" rIns="0" bIns="0" rtlCol="0" anchor="ctr"/>
          <a:lstStyle/>
          <a:p>
            <a:pPr indent="0" marL="0">
              <a:buNone/>
            </a:pPr>
            <a:r>
              <a:rPr lang="en-US" sz="1000" b="1" spc="170" kern="0" dirty="0">
                <a:solidFill>
                  <a:srgbClr val="B7C0D2"/>
                </a:solidFill>
                <a:latin typeface="Aptos" pitchFamily="34" charset="0"/>
                <a:ea typeface="Aptos" pitchFamily="34" charset="-122"/>
                <a:cs typeface="Aptos" pitchFamily="34" charset="-120"/>
              </a:rPr>
              <a:t>THE DECISION WE HELP YOU MAKE</a:t>
            </a:r>
            <a:endParaRPr lang="en-US" sz="1000" dirty="0"/>
          </a:p>
        </p:txBody>
      </p:sp>
      <p:sp>
        <p:nvSpPr>
          <p:cNvPr id="20" name="Text 18"/>
          <p:cNvSpPr/>
          <p:nvPr/>
        </p:nvSpPr>
        <p:spPr>
          <a:xfrm>
            <a:off x="7772400" y="2002536"/>
            <a:ext cx="3474720" cy="1033272"/>
          </a:xfrm>
          <a:prstGeom prst="rect">
            <a:avLst/>
          </a:prstGeom>
          <a:noFill/>
          <a:ln/>
        </p:spPr>
        <p:txBody>
          <a:bodyPr wrap="square" lIns="0" tIns="0" rIns="0" bIns="0" rtlCol="0" anchor="ctr"/>
          <a:lstStyle/>
          <a:p>
            <a:pPr indent="0" marL="0">
              <a:buNone/>
            </a:pPr>
            <a:r>
              <a:rPr lang="en-US" sz="3100" b="1" dirty="0">
                <a:solidFill>
                  <a:srgbClr val="FFFFFF"/>
                </a:solidFill>
                <a:latin typeface="Aptos" pitchFamily="34" charset="0"/>
                <a:ea typeface="Aptos" pitchFamily="34" charset="-122"/>
                <a:cs typeface="Aptos" pitchFamily="34" charset="-120"/>
              </a:rPr>
              <a:t>“Which event is</a:t>
            </a:r>
            <a:endParaRPr lang="en-US" sz="3100" dirty="0"/>
          </a:p>
          <a:p>
            <a:pPr indent="0" marL="0">
              <a:buNone/>
            </a:pPr>
            <a:r>
              <a:rPr lang="en-US" sz="3100" b="1" dirty="0">
                <a:solidFill>
                  <a:srgbClr val="FFFFFF"/>
                </a:solidFill>
                <a:latin typeface="Aptos" pitchFamily="34" charset="0"/>
                <a:ea typeface="Aptos" pitchFamily="34" charset="-122"/>
                <a:cs typeface="Aptos" pitchFamily="34" charset="-120"/>
              </a:rPr>
              <a:t>right for me?”</a:t>
            </a:r>
            <a:endParaRPr lang="en-US" sz="3100" dirty="0"/>
          </a:p>
        </p:txBody>
      </p:sp>
      <p:sp>
        <p:nvSpPr>
          <p:cNvPr id="21" name="Shape 19"/>
          <p:cNvSpPr/>
          <p:nvPr/>
        </p:nvSpPr>
        <p:spPr>
          <a:xfrm>
            <a:off x="7799832" y="3346704"/>
            <a:ext cx="365760" cy="365760"/>
          </a:xfrm>
          <a:prstGeom prst="ellipse">
            <a:avLst/>
          </a:prstGeom>
          <a:solidFill>
            <a:srgbClr val="C5ED3C"/>
          </a:solidFill>
          <a:ln w="12700">
            <a:solidFill>
              <a:srgbClr val="C5ED3C"/>
            </a:solidFill>
            <a:prstDash val="solid"/>
          </a:ln>
        </p:spPr>
      </p:sp>
      <p:sp>
        <p:nvSpPr>
          <p:cNvPr id="22" name="Text 20"/>
          <p:cNvSpPr/>
          <p:nvPr/>
        </p:nvSpPr>
        <p:spPr>
          <a:xfrm>
            <a:off x="7799832" y="3369564"/>
            <a:ext cx="365760" cy="283464"/>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01</a:t>
            </a:r>
            <a:endParaRPr lang="en-US" sz="1100" dirty="0"/>
          </a:p>
        </p:txBody>
      </p:sp>
      <p:sp>
        <p:nvSpPr>
          <p:cNvPr id="23" name="Text 21"/>
          <p:cNvSpPr/>
          <p:nvPr/>
        </p:nvSpPr>
        <p:spPr>
          <a:xfrm>
            <a:off x="8311896" y="3378708"/>
            <a:ext cx="2880360" cy="292608"/>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Relevant to my interests</a:t>
            </a:r>
            <a:endParaRPr lang="en-US" sz="1600" dirty="0"/>
          </a:p>
        </p:txBody>
      </p:sp>
      <p:sp>
        <p:nvSpPr>
          <p:cNvPr id="24" name="Shape 22"/>
          <p:cNvSpPr/>
          <p:nvPr/>
        </p:nvSpPr>
        <p:spPr>
          <a:xfrm>
            <a:off x="7799832" y="3931920"/>
            <a:ext cx="365760" cy="365760"/>
          </a:xfrm>
          <a:prstGeom prst="ellipse">
            <a:avLst/>
          </a:prstGeom>
          <a:solidFill>
            <a:srgbClr val="5B7CF0"/>
          </a:solidFill>
          <a:ln w="12700">
            <a:solidFill>
              <a:srgbClr val="5B7CF0"/>
            </a:solidFill>
            <a:prstDash val="solid"/>
          </a:ln>
        </p:spPr>
      </p:sp>
      <p:sp>
        <p:nvSpPr>
          <p:cNvPr id="25" name="Text 23"/>
          <p:cNvSpPr/>
          <p:nvPr/>
        </p:nvSpPr>
        <p:spPr>
          <a:xfrm>
            <a:off x="7799832" y="3954780"/>
            <a:ext cx="365760" cy="283464"/>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02</a:t>
            </a:r>
            <a:endParaRPr lang="en-US" sz="1100" dirty="0"/>
          </a:p>
        </p:txBody>
      </p:sp>
      <p:sp>
        <p:nvSpPr>
          <p:cNvPr id="26" name="Text 24"/>
          <p:cNvSpPr/>
          <p:nvPr/>
        </p:nvSpPr>
        <p:spPr>
          <a:xfrm>
            <a:off x="8311896" y="3963924"/>
            <a:ext cx="2880360" cy="292608"/>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Worth my time</a:t>
            </a:r>
            <a:endParaRPr lang="en-US" sz="1600" dirty="0"/>
          </a:p>
        </p:txBody>
      </p:sp>
      <p:sp>
        <p:nvSpPr>
          <p:cNvPr id="27" name="Shape 25"/>
          <p:cNvSpPr/>
          <p:nvPr/>
        </p:nvSpPr>
        <p:spPr>
          <a:xfrm>
            <a:off x="7799832" y="4517136"/>
            <a:ext cx="365760" cy="365760"/>
          </a:xfrm>
          <a:prstGeom prst="ellipse">
            <a:avLst/>
          </a:prstGeom>
          <a:solidFill>
            <a:srgbClr val="8C75DC"/>
          </a:solidFill>
          <a:ln w="12700">
            <a:solidFill>
              <a:srgbClr val="8C75DC"/>
            </a:solidFill>
            <a:prstDash val="solid"/>
          </a:ln>
        </p:spPr>
      </p:sp>
      <p:sp>
        <p:nvSpPr>
          <p:cNvPr id="28" name="Text 26"/>
          <p:cNvSpPr/>
          <p:nvPr/>
        </p:nvSpPr>
        <p:spPr>
          <a:xfrm>
            <a:off x="7799832" y="4539996"/>
            <a:ext cx="365760" cy="283464"/>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03</a:t>
            </a:r>
            <a:endParaRPr lang="en-US" sz="1100" dirty="0"/>
          </a:p>
        </p:txBody>
      </p:sp>
      <p:sp>
        <p:nvSpPr>
          <p:cNvPr id="29" name="Text 27"/>
          <p:cNvSpPr/>
          <p:nvPr/>
        </p:nvSpPr>
        <p:spPr>
          <a:xfrm>
            <a:off x="8311896" y="4549140"/>
            <a:ext cx="2880360" cy="292608"/>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Backed by student feedback</a:t>
            </a:r>
            <a:endParaRPr lang="en-US" sz="1600" dirty="0"/>
          </a:p>
        </p:txBody>
      </p:sp>
      <p:sp>
        <p:nvSpPr>
          <p:cNvPr id="30" name="Shape 28"/>
          <p:cNvSpPr/>
          <p:nvPr/>
        </p:nvSpPr>
        <p:spPr>
          <a:xfrm>
            <a:off x="7772400" y="5367528"/>
            <a:ext cx="3493008" cy="0"/>
          </a:xfrm>
          <a:prstGeom prst="line">
            <a:avLst/>
          </a:prstGeom>
          <a:noFill/>
          <a:ln w="12700">
            <a:solidFill>
              <a:srgbClr val="465067"/>
            </a:solidFill>
            <a:prstDash val="solid"/>
          </a:ln>
        </p:spPr>
      </p:sp>
      <p:sp>
        <p:nvSpPr>
          <p:cNvPr id="31" name="Text 29"/>
          <p:cNvSpPr/>
          <p:nvPr/>
        </p:nvSpPr>
        <p:spPr>
          <a:xfrm>
            <a:off x="7799832" y="5495544"/>
            <a:ext cx="3474720" cy="356616"/>
          </a:xfrm>
          <a:prstGeom prst="rect">
            <a:avLst/>
          </a:prstGeom>
          <a:noFill/>
          <a:ln/>
        </p:spPr>
        <p:txBody>
          <a:bodyPr wrap="square" lIns="0" tIns="0" rIns="0" bIns="0" rtlCol="0" anchor="ctr"/>
          <a:lstStyle/>
          <a:p>
            <a:pPr indent="0" marL="0">
              <a:buNone/>
            </a:pPr>
            <a:r>
              <a:rPr lang="en-US" sz="1300" dirty="0">
                <a:solidFill>
                  <a:srgbClr val="B7C0D2"/>
                </a:solidFill>
                <a:latin typeface="Aptos" pitchFamily="34" charset="0"/>
                <a:ea typeface="Aptos" pitchFamily="34" charset="-122"/>
                <a:cs typeface="Aptos" pitchFamily="34" charset="-120"/>
              </a:rPr>
              <a:t>Not another event calendar.</a:t>
            </a:r>
            <a:endParaRPr lang="en-US" sz="1300" dirty="0"/>
          </a:p>
          <a:p>
            <a:pPr indent="0" marL="0">
              <a:buNone/>
            </a:pPr>
            <a:r>
              <a:rPr lang="en-US" sz="1300" dirty="0">
                <a:solidFill>
                  <a:srgbClr val="B7C0D2"/>
                </a:solidFill>
                <a:latin typeface="Aptos" pitchFamily="34" charset="0"/>
                <a:ea typeface="Aptos" pitchFamily="34" charset="-122"/>
                <a:cs typeface="Aptos" pitchFamily="34" charset="-120"/>
              </a:rPr>
              <a:t>A better way to decide.</a:t>
            </a:r>
            <a:endParaRPr lang="en-US" sz="1300" dirty="0"/>
          </a:p>
        </p:txBody>
      </p:sp>
      <p:sp>
        <p:nvSpPr>
          <p:cNvPr id="33" name="Text 30"/>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PROBLEM &amp; USERS</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02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PROBLEM</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Plenty of announcements. Not enough clarity.</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Students need a reason to attend — not just another registration link.</a:t>
            </a:r>
            <a:endParaRPr lang="en-US" sz="1700" dirty="0"/>
          </a:p>
        </p:txBody>
      </p:sp>
      <p:sp>
        <p:nvSpPr>
          <p:cNvPr id="10" name="Shape 8"/>
          <p:cNvSpPr/>
          <p:nvPr/>
        </p:nvSpPr>
        <p:spPr>
          <a:xfrm>
            <a:off x="548640" y="2724912"/>
            <a:ext cx="3557016" cy="2167128"/>
          </a:xfrm>
          <a:prstGeom prst="roundRect">
            <a:avLst>
              <a:gd name="adj" fmla="val 5485"/>
            </a:avLst>
          </a:prstGeom>
          <a:solidFill>
            <a:srgbClr val="FFFFFF"/>
          </a:solidFill>
          <a:ln w="8890">
            <a:solidFill>
              <a:srgbClr val="E2E6ED"/>
            </a:solidFill>
            <a:prstDash val="solid"/>
          </a:ln>
        </p:spPr>
      </p:sp>
      <p:sp>
        <p:nvSpPr>
          <p:cNvPr id="11" name="Shape 9"/>
          <p:cNvSpPr/>
          <p:nvPr/>
        </p:nvSpPr>
        <p:spPr>
          <a:xfrm>
            <a:off x="777240" y="2944368"/>
            <a:ext cx="438912" cy="283464"/>
          </a:xfrm>
          <a:prstGeom prst="roundRect">
            <a:avLst>
              <a:gd name="adj" fmla="val 41935"/>
            </a:avLst>
          </a:prstGeom>
          <a:solidFill>
            <a:srgbClr val="EEF2FF"/>
          </a:solidFill>
          <a:ln w="8890">
            <a:solidFill>
              <a:srgbClr val="EEF2FF"/>
            </a:solidFill>
            <a:prstDash val="solid"/>
          </a:ln>
        </p:spPr>
      </p:sp>
      <p:sp>
        <p:nvSpPr>
          <p:cNvPr id="12" name="Text 10"/>
          <p:cNvSpPr/>
          <p:nvPr/>
        </p:nvSpPr>
        <p:spPr>
          <a:xfrm>
            <a:off x="841248" y="2958084"/>
            <a:ext cx="310896" cy="256032"/>
          </a:xfrm>
          <a:prstGeom prst="rect">
            <a:avLst/>
          </a:prstGeom>
          <a:noFill/>
          <a:ln/>
        </p:spPr>
        <p:txBody>
          <a:bodyPr wrap="square" lIns="0" tIns="0" rIns="0" bIns="0" rtlCol="0" anchor="ctr"/>
          <a:lstStyle/>
          <a:p>
            <a:pPr algn="ctr" indent="0" marL="0">
              <a:buNone/>
            </a:pPr>
            <a:r>
              <a:rPr lang="en-US" sz="1100" b="1" dirty="0">
                <a:solidFill>
                  <a:srgbClr val="5B7CF0"/>
                </a:solidFill>
                <a:latin typeface="Aptos" pitchFamily="34" charset="0"/>
                <a:ea typeface="Aptos" pitchFamily="34" charset="-122"/>
                <a:cs typeface="Aptos" pitchFamily="34" charset="-120"/>
              </a:rPr>
              <a:t>01</a:t>
            </a:r>
            <a:endParaRPr lang="en-US" sz="1100" dirty="0"/>
          </a:p>
        </p:txBody>
      </p:sp>
      <p:sp>
        <p:nvSpPr>
          <p:cNvPr id="13" name="Text 11"/>
          <p:cNvSpPr/>
          <p:nvPr/>
        </p:nvSpPr>
        <p:spPr>
          <a:xfrm>
            <a:off x="786384" y="3474720"/>
            <a:ext cx="3054096" cy="320040"/>
          </a:xfrm>
          <a:prstGeom prst="rect">
            <a:avLst/>
          </a:prstGeom>
          <a:noFill/>
          <a:ln/>
        </p:spPr>
        <p:txBody>
          <a:bodyPr wrap="square" lIns="0" tIns="0" rIns="0" bIns="0" rtlCol="0" anchor="ctr"/>
          <a:lstStyle/>
          <a:p>
            <a:pPr indent="0" marL="0">
              <a:buNone/>
            </a:pPr>
            <a:r>
              <a:rPr lang="en-US" sz="2200" b="1" dirty="0">
                <a:solidFill>
                  <a:srgbClr val="151820"/>
                </a:solidFill>
                <a:latin typeface="Aptos" pitchFamily="34" charset="0"/>
                <a:ea typeface="Aptos" pitchFamily="34" charset="-122"/>
                <a:cs typeface="Aptos" pitchFamily="34" charset="-120"/>
              </a:rPr>
              <a:t>Scattered discovery</a:t>
            </a:r>
            <a:endParaRPr lang="en-US" sz="2200" dirty="0"/>
          </a:p>
        </p:txBody>
      </p:sp>
      <p:sp>
        <p:nvSpPr>
          <p:cNvPr id="14" name="Text 12"/>
          <p:cNvSpPr/>
          <p:nvPr/>
        </p:nvSpPr>
        <p:spPr>
          <a:xfrm>
            <a:off x="786384" y="3950208"/>
            <a:ext cx="3026664" cy="704088"/>
          </a:xfrm>
          <a:prstGeom prst="rect">
            <a:avLst/>
          </a:prstGeom>
          <a:noFill/>
          <a:ln/>
        </p:spPr>
        <p:txBody>
          <a:bodyPr wrap="square" lIns="0" tIns="0" rIns="0" bIns="0" rtlCol="0" anchor="t"/>
          <a:lstStyle/>
          <a:p>
            <a:pPr indent="0" marL="0">
              <a:buNone/>
            </a:pPr>
            <a:r>
              <a:rPr lang="en-US" sz="1600" dirty="0">
                <a:solidFill>
                  <a:srgbClr val="586170"/>
                </a:solidFill>
                <a:latin typeface="Aptos" pitchFamily="34" charset="0"/>
                <a:ea typeface="Aptos" pitchFamily="34" charset="-122"/>
                <a:cs typeface="Aptos" pitchFamily="34" charset="-120"/>
              </a:rPr>
              <a:t>Email, posters, club chats and social feeds make useful events easy to miss.</a:t>
            </a:r>
            <a:endParaRPr lang="en-US" sz="1600" dirty="0"/>
          </a:p>
        </p:txBody>
      </p:sp>
      <p:sp>
        <p:nvSpPr>
          <p:cNvPr id="15" name="Shape 13"/>
          <p:cNvSpPr/>
          <p:nvPr/>
        </p:nvSpPr>
        <p:spPr>
          <a:xfrm>
            <a:off x="4315968" y="2724912"/>
            <a:ext cx="3557016" cy="2167128"/>
          </a:xfrm>
          <a:prstGeom prst="roundRect">
            <a:avLst>
              <a:gd name="adj" fmla="val 5485"/>
            </a:avLst>
          </a:prstGeom>
          <a:solidFill>
            <a:srgbClr val="FFFFFF"/>
          </a:solidFill>
          <a:ln w="8890">
            <a:solidFill>
              <a:srgbClr val="E2E6ED"/>
            </a:solidFill>
            <a:prstDash val="solid"/>
          </a:ln>
        </p:spPr>
      </p:sp>
      <p:sp>
        <p:nvSpPr>
          <p:cNvPr id="16" name="Shape 14"/>
          <p:cNvSpPr/>
          <p:nvPr/>
        </p:nvSpPr>
        <p:spPr>
          <a:xfrm>
            <a:off x="4544568" y="2944368"/>
            <a:ext cx="438912" cy="283464"/>
          </a:xfrm>
          <a:prstGeom prst="roundRect">
            <a:avLst>
              <a:gd name="adj" fmla="val 41935"/>
            </a:avLst>
          </a:prstGeom>
          <a:solidFill>
            <a:srgbClr val="EEF2FF"/>
          </a:solidFill>
          <a:ln w="8890">
            <a:solidFill>
              <a:srgbClr val="EEF2FF"/>
            </a:solidFill>
            <a:prstDash val="solid"/>
          </a:ln>
        </p:spPr>
      </p:sp>
      <p:sp>
        <p:nvSpPr>
          <p:cNvPr id="17" name="Text 15"/>
          <p:cNvSpPr/>
          <p:nvPr/>
        </p:nvSpPr>
        <p:spPr>
          <a:xfrm>
            <a:off x="4608576" y="2958084"/>
            <a:ext cx="310896" cy="256032"/>
          </a:xfrm>
          <a:prstGeom prst="rect">
            <a:avLst/>
          </a:prstGeom>
          <a:noFill/>
          <a:ln/>
        </p:spPr>
        <p:txBody>
          <a:bodyPr wrap="square" lIns="0" tIns="0" rIns="0" bIns="0" rtlCol="0" anchor="ctr"/>
          <a:lstStyle/>
          <a:p>
            <a:pPr algn="ctr" indent="0" marL="0">
              <a:buNone/>
            </a:pPr>
            <a:r>
              <a:rPr lang="en-US" sz="1100" b="1" dirty="0">
                <a:solidFill>
                  <a:srgbClr val="5B7CF0"/>
                </a:solidFill>
                <a:latin typeface="Aptos" pitchFamily="34" charset="0"/>
                <a:ea typeface="Aptos" pitchFamily="34" charset="-122"/>
                <a:cs typeface="Aptos" pitchFamily="34" charset="-120"/>
              </a:rPr>
              <a:t>02</a:t>
            </a:r>
            <a:endParaRPr lang="en-US" sz="1100" dirty="0"/>
          </a:p>
        </p:txBody>
      </p:sp>
      <p:sp>
        <p:nvSpPr>
          <p:cNvPr id="18" name="Text 16"/>
          <p:cNvSpPr/>
          <p:nvPr/>
        </p:nvSpPr>
        <p:spPr>
          <a:xfrm>
            <a:off x="4553712" y="3474720"/>
            <a:ext cx="3054096" cy="320040"/>
          </a:xfrm>
          <a:prstGeom prst="rect">
            <a:avLst/>
          </a:prstGeom>
          <a:noFill/>
          <a:ln/>
        </p:spPr>
        <p:txBody>
          <a:bodyPr wrap="square" lIns="0" tIns="0" rIns="0" bIns="0" rtlCol="0" anchor="ctr"/>
          <a:lstStyle/>
          <a:p>
            <a:pPr indent="0" marL="0">
              <a:buNone/>
            </a:pPr>
            <a:r>
              <a:rPr lang="en-US" sz="2200" b="1" dirty="0">
                <a:solidFill>
                  <a:srgbClr val="151820"/>
                </a:solidFill>
                <a:latin typeface="Aptos" pitchFamily="34" charset="0"/>
                <a:ea typeface="Aptos" pitchFamily="34" charset="-122"/>
                <a:cs typeface="Aptos" pitchFamily="34" charset="-120"/>
              </a:rPr>
              <a:t>Unclear value</a:t>
            </a:r>
            <a:endParaRPr lang="en-US" sz="2200" dirty="0"/>
          </a:p>
        </p:txBody>
      </p:sp>
      <p:sp>
        <p:nvSpPr>
          <p:cNvPr id="19" name="Text 17"/>
          <p:cNvSpPr/>
          <p:nvPr/>
        </p:nvSpPr>
        <p:spPr>
          <a:xfrm>
            <a:off x="4553712" y="3950208"/>
            <a:ext cx="3026664" cy="704088"/>
          </a:xfrm>
          <a:prstGeom prst="rect">
            <a:avLst/>
          </a:prstGeom>
          <a:noFill/>
          <a:ln/>
        </p:spPr>
        <p:txBody>
          <a:bodyPr wrap="square" lIns="0" tIns="0" rIns="0" bIns="0" rtlCol="0" anchor="t"/>
          <a:lstStyle/>
          <a:p>
            <a:pPr indent="0" marL="0">
              <a:buNone/>
            </a:pPr>
            <a:r>
              <a:rPr lang="en-US" sz="1600" dirty="0">
                <a:solidFill>
                  <a:srgbClr val="586170"/>
                </a:solidFill>
                <a:latin typeface="Aptos" pitchFamily="34" charset="0"/>
                <a:ea typeface="Aptos" pitchFamily="34" charset="-122"/>
                <a:cs typeface="Aptos" pitchFamily="34" charset="-120"/>
              </a:rPr>
              <a:t>Promotional descriptions rarely explain the audience, prerequisites or time commitment.</a:t>
            </a:r>
            <a:endParaRPr lang="en-US" sz="1600" dirty="0"/>
          </a:p>
        </p:txBody>
      </p:sp>
      <p:sp>
        <p:nvSpPr>
          <p:cNvPr id="20" name="Shape 18"/>
          <p:cNvSpPr/>
          <p:nvPr/>
        </p:nvSpPr>
        <p:spPr>
          <a:xfrm>
            <a:off x="8083296" y="2724912"/>
            <a:ext cx="3557016" cy="2167128"/>
          </a:xfrm>
          <a:prstGeom prst="roundRect">
            <a:avLst>
              <a:gd name="adj" fmla="val 5485"/>
            </a:avLst>
          </a:prstGeom>
          <a:solidFill>
            <a:srgbClr val="FFFFFF"/>
          </a:solidFill>
          <a:ln w="8890">
            <a:solidFill>
              <a:srgbClr val="E2E6ED"/>
            </a:solidFill>
            <a:prstDash val="solid"/>
          </a:ln>
        </p:spPr>
      </p:sp>
      <p:sp>
        <p:nvSpPr>
          <p:cNvPr id="21" name="Shape 19"/>
          <p:cNvSpPr/>
          <p:nvPr/>
        </p:nvSpPr>
        <p:spPr>
          <a:xfrm>
            <a:off x="8311896" y="2944368"/>
            <a:ext cx="438912" cy="283464"/>
          </a:xfrm>
          <a:prstGeom prst="roundRect">
            <a:avLst>
              <a:gd name="adj" fmla="val 41935"/>
            </a:avLst>
          </a:prstGeom>
          <a:solidFill>
            <a:srgbClr val="EEF2FF"/>
          </a:solidFill>
          <a:ln w="8890">
            <a:solidFill>
              <a:srgbClr val="EEF2FF"/>
            </a:solidFill>
            <a:prstDash val="solid"/>
          </a:ln>
        </p:spPr>
      </p:sp>
      <p:sp>
        <p:nvSpPr>
          <p:cNvPr id="22" name="Text 20"/>
          <p:cNvSpPr/>
          <p:nvPr/>
        </p:nvSpPr>
        <p:spPr>
          <a:xfrm>
            <a:off x="8375904" y="2958084"/>
            <a:ext cx="310896" cy="256032"/>
          </a:xfrm>
          <a:prstGeom prst="rect">
            <a:avLst/>
          </a:prstGeom>
          <a:noFill/>
          <a:ln/>
        </p:spPr>
        <p:txBody>
          <a:bodyPr wrap="square" lIns="0" tIns="0" rIns="0" bIns="0" rtlCol="0" anchor="ctr"/>
          <a:lstStyle/>
          <a:p>
            <a:pPr algn="ctr" indent="0" marL="0">
              <a:buNone/>
            </a:pPr>
            <a:r>
              <a:rPr lang="en-US" sz="1100" b="1" dirty="0">
                <a:solidFill>
                  <a:srgbClr val="5B7CF0"/>
                </a:solidFill>
                <a:latin typeface="Aptos" pitchFamily="34" charset="0"/>
                <a:ea typeface="Aptos" pitchFamily="34" charset="-122"/>
                <a:cs typeface="Aptos" pitchFamily="34" charset="-120"/>
              </a:rPr>
              <a:t>03</a:t>
            </a:r>
            <a:endParaRPr lang="en-US" sz="1100" dirty="0"/>
          </a:p>
        </p:txBody>
      </p:sp>
      <p:sp>
        <p:nvSpPr>
          <p:cNvPr id="23" name="Text 21"/>
          <p:cNvSpPr/>
          <p:nvPr/>
        </p:nvSpPr>
        <p:spPr>
          <a:xfrm>
            <a:off x="8321040" y="3474720"/>
            <a:ext cx="3054096" cy="320040"/>
          </a:xfrm>
          <a:prstGeom prst="rect">
            <a:avLst/>
          </a:prstGeom>
          <a:noFill/>
          <a:ln/>
        </p:spPr>
        <p:txBody>
          <a:bodyPr wrap="square" lIns="0" tIns="0" rIns="0" bIns="0" rtlCol="0" anchor="ctr"/>
          <a:lstStyle/>
          <a:p>
            <a:pPr indent="0" marL="0">
              <a:buNone/>
            </a:pPr>
            <a:r>
              <a:rPr lang="en-US" sz="2200" b="1" dirty="0">
                <a:solidFill>
                  <a:srgbClr val="151820"/>
                </a:solidFill>
                <a:latin typeface="Aptos" pitchFamily="34" charset="0"/>
                <a:ea typeface="Aptos" pitchFamily="34" charset="-122"/>
                <a:cs typeface="Aptos" pitchFamily="34" charset="-120"/>
              </a:rPr>
              <a:t>No trusted comparison</a:t>
            </a:r>
            <a:endParaRPr lang="en-US" sz="2200" dirty="0"/>
          </a:p>
        </p:txBody>
      </p:sp>
      <p:sp>
        <p:nvSpPr>
          <p:cNvPr id="24" name="Text 22"/>
          <p:cNvSpPr/>
          <p:nvPr/>
        </p:nvSpPr>
        <p:spPr>
          <a:xfrm>
            <a:off x="8321040" y="3950208"/>
            <a:ext cx="3026664" cy="704088"/>
          </a:xfrm>
          <a:prstGeom prst="rect">
            <a:avLst/>
          </a:prstGeom>
          <a:noFill/>
          <a:ln/>
        </p:spPr>
        <p:txBody>
          <a:bodyPr wrap="square" lIns="0" tIns="0" rIns="0" bIns="0" rtlCol="0" anchor="t"/>
          <a:lstStyle/>
          <a:p>
            <a:pPr indent="0" marL="0">
              <a:buNone/>
            </a:pPr>
            <a:r>
              <a:rPr lang="en-US" sz="1600" dirty="0">
                <a:solidFill>
                  <a:srgbClr val="586170"/>
                </a:solidFill>
                <a:latin typeface="Aptos" pitchFamily="34" charset="0"/>
                <a:ea typeface="Aptos" pitchFamily="34" charset="-122"/>
                <a:cs typeface="Aptos" pitchFamily="34" charset="-120"/>
              </a:rPr>
              <a:t>Likes and popularity cannot tell a student which event best fits their goals.</a:t>
            </a:r>
            <a:endParaRPr lang="en-US" sz="1600" dirty="0"/>
          </a:p>
        </p:txBody>
      </p:sp>
      <p:sp>
        <p:nvSpPr>
          <p:cNvPr id="25" name="Shape 23"/>
          <p:cNvSpPr/>
          <p:nvPr/>
        </p:nvSpPr>
        <p:spPr>
          <a:xfrm>
            <a:off x="548640" y="5202936"/>
            <a:ext cx="11091672" cy="923544"/>
          </a:xfrm>
          <a:prstGeom prst="roundRect">
            <a:avLst>
              <a:gd name="adj" fmla="val 12871"/>
            </a:avLst>
          </a:prstGeom>
          <a:solidFill>
            <a:srgbClr val="161D2E"/>
          </a:solidFill>
          <a:ln w="8890">
            <a:solidFill>
              <a:srgbClr val="161D2E"/>
            </a:solidFill>
            <a:prstDash val="solid"/>
          </a:ln>
        </p:spPr>
      </p:sp>
      <p:sp>
        <p:nvSpPr>
          <p:cNvPr id="26" name="Text 24"/>
          <p:cNvSpPr/>
          <p:nvPr/>
        </p:nvSpPr>
        <p:spPr>
          <a:xfrm>
            <a:off x="832104" y="5449824"/>
            <a:ext cx="219456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WHO WE SERVE</a:t>
            </a:r>
            <a:endParaRPr lang="en-US" sz="1000" dirty="0"/>
          </a:p>
        </p:txBody>
      </p:sp>
      <p:sp>
        <p:nvSpPr>
          <p:cNvPr id="27" name="Text 25"/>
          <p:cNvSpPr/>
          <p:nvPr/>
        </p:nvSpPr>
        <p:spPr>
          <a:xfrm>
            <a:off x="2907792" y="5422392"/>
            <a:ext cx="8321040" cy="393192"/>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First-years exploring campus  /  Busy students prioritizing time  /  Students pursuing specific goals</a:t>
            </a:r>
            <a:endParaRPr lang="en-US" sz="1600" dirty="0"/>
          </a:p>
        </p:txBody>
      </p:sp>
      <p:sp>
        <p:nvSpPr>
          <p:cNvPr id="29" name="Text 2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SOLUTION &amp; WORKFLOW</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03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SOLUTION</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From “what’s happening?” to “what fits me?”</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A student-first discovery loop with understandable reasons behind every recommendation.</a:t>
            </a:r>
            <a:endParaRPr lang="en-US" sz="1700" dirty="0"/>
          </a:p>
        </p:txBody>
      </p:sp>
      <p:sp>
        <p:nvSpPr>
          <p:cNvPr id="10" name="Shape 8"/>
          <p:cNvSpPr/>
          <p:nvPr/>
        </p:nvSpPr>
        <p:spPr>
          <a:xfrm>
            <a:off x="548640" y="2670048"/>
            <a:ext cx="3557016" cy="1865376"/>
          </a:xfrm>
          <a:prstGeom prst="roundRect">
            <a:avLst>
              <a:gd name="adj" fmla="val 6373"/>
            </a:avLst>
          </a:prstGeom>
          <a:solidFill>
            <a:srgbClr val="FFFFFF"/>
          </a:solidFill>
          <a:ln w="8890">
            <a:solidFill>
              <a:srgbClr val="E2E6ED"/>
            </a:solidFill>
            <a:prstDash val="solid"/>
          </a:ln>
        </p:spPr>
      </p:sp>
      <p:sp>
        <p:nvSpPr>
          <p:cNvPr id="11" name="Shape 9"/>
          <p:cNvSpPr/>
          <p:nvPr/>
        </p:nvSpPr>
        <p:spPr>
          <a:xfrm>
            <a:off x="768096" y="2889504"/>
            <a:ext cx="54864" cy="320040"/>
          </a:xfrm>
          <a:prstGeom prst="rect">
            <a:avLst/>
          </a:prstGeom>
          <a:solidFill>
            <a:srgbClr val="5B7CF0"/>
          </a:solidFill>
          <a:ln w="12700">
            <a:solidFill>
              <a:srgbClr val="5B7CF0">
                <a:alpha val="0"/>
              </a:srgbClr>
            </a:solidFill>
            <a:prstDash val="solid"/>
          </a:ln>
        </p:spPr>
      </p:sp>
      <p:sp>
        <p:nvSpPr>
          <p:cNvPr id="12" name="Text 10"/>
          <p:cNvSpPr/>
          <p:nvPr/>
        </p:nvSpPr>
        <p:spPr>
          <a:xfrm>
            <a:off x="960120" y="2916936"/>
            <a:ext cx="278892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DISCOVER</a:t>
            </a:r>
            <a:endParaRPr lang="en-US" sz="1000" dirty="0"/>
          </a:p>
        </p:txBody>
      </p:sp>
      <p:sp>
        <p:nvSpPr>
          <p:cNvPr id="13" name="Text 11"/>
          <p:cNvSpPr/>
          <p:nvPr/>
        </p:nvSpPr>
        <p:spPr>
          <a:xfrm>
            <a:off x="786384" y="3438144"/>
            <a:ext cx="3063240" cy="329184"/>
          </a:xfrm>
          <a:prstGeom prst="rect">
            <a:avLst/>
          </a:prstGeom>
          <a:noFill/>
          <a:ln/>
        </p:spPr>
        <p:txBody>
          <a:bodyPr wrap="square" lIns="0" tIns="0" rIns="0" bIns="0" rtlCol="0" anchor="ctr"/>
          <a:lstStyle/>
          <a:p>
            <a:pPr indent="0" marL="0">
              <a:buNone/>
            </a:pPr>
            <a:r>
              <a:rPr lang="en-US" sz="2300" b="1" dirty="0">
                <a:solidFill>
                  <a:srgbClr val="151820"/>
                </a:solidFill>
                <a:latin typeface="Aptos" pitchFamily="34" charset="0"/>
                <a:ea typeface="Aptos" pitchFamily="34" charset="-122"/>
                <a:cs typeface="Aptos" pitchFamily="34" charset="-120"/>
              </a:rPr>
              <a:t>Find a better fit</a:t>
            </a:r>
            <a:endParaRPr lang="en-US" sz="2300" dirty="0"/>
          </a:p>
        </p:txBody>
      </p:sp>
      <p:sp>
        <p:nvSpPr>
          <p:cNvPr id="14" name="Text 12"/>
          <p:cNvSpPr/>
          <p:nvPr/>
        </p:nvSpPr>
        <p:spPr>
          <a:xfrm>
            <a:off x="786384" y="3950208"/>
            <a:ext cx="3026664" cy="39319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Interest-based feed</a:t>
            </a:r>
            <a:endParaRPr lang="en-US" sz="1500" dirty="0"/>
          </a:p>
          <a:p>
            <a:pPr indent="0" marL="0">
              <a:buNone/>
            </a:pPr>
            <a:r>
              <a:rPr lang="en-US" sz="1500" dirty="0">
                <a:solidFill>
                  <a:srgbClr val="586170"/>
                </a:solidFill>
                <a:latin typeface="Aptos" pitchFamily="34" charset="0"/>
                <a:ea typeface="Aptos" pitchFamily="34" charset="-122"/>
                <a:cs typeface="Aptos" pitchFamily="34" charset="-120"/>
              </a:rPr>
              <a:t>Search + category, date and cost filters</a:t>
            </a:r>
            <a:endParaRPr lang="en-US" sz="1500" dirty="0"/>
          </a:p>
        </p:txBody>
      </p:sp>
      <p:sp>
        <p:nvSpPr>
          <p:cNvPr id="15" name="Shape 13"/>
          <p:cNvSpPr/>
          <p:nvPr/>
        </p:nvSpPr>
        <p:spPr>
          <a:xfrm>
            <a:off x="4315968" y="2670048"/>
            <a:ext cx="3557016" cy="1865376"/>
          </a:xfrm>
          <a:prstGeom prst="roundRect">
            <a:avLst>
              <a:gd name="adj" fmla="val 6373"/>
            </a:avLst>
          </a:prstGeom>
          <a:solidFill>
            <a:srgbClr val="FFFFFF"/>
          </a:solidFill>
          <a:ln w="8890">
            <a:solidFill>
              <a:srgbClr val="E2E6ED"/>
            </a:solidFill>
            <a:prstDash val="solid"/>
          </a:ln>
        </p:spPr>
      </p:sp>
      <p:sp>
        <p:nvSpPr>
          <p:cNvPr id="16" name="Shape 14"/>
          <p:cNvSpPr/>
          <p:nvPr/>
        </p:nvSpPr>
        <p:spPr>
          <a:xfrm>
            <a:off x="4535424" y="2889504"/>
            <a:ext cx="54864" cy="320040"/>
          </a:xfrm>
          <a:prstGeom prst="rect">
            <a:avLst/>
          </a:prstGeom>
          <a:solidFill>
            <a:srgbClr val="8C75DC"/>
          </a:solidFill>
          <a:ln w="12700">
            <a:solidFill>
              <a:srgbClr val="8C75DC">
                <a:alpha val="0"/>
              </a:srgbClr>
            </a:solidFill>
            <a:prstDash val="solid"/>
          </a:ln>
        </p:spPr>
      </p:sp>
      <p:sp>
        <p:nvSpPr>
          <p:cNvPr id="17" name="Text 15"/>
          <p:cNvSpPr/>
          <p:nvPr/>
        </p:nvSpPr>
        <p:spPr>
          <a:xfrm>
            <a:off x="4727448" y="2916936"/>
            <a:ext cx="2788920" cy="201168"/>
          </a:xfrm>
          <a:prstGeom prst="rect">
            <a:avLst/>
          </a:prstGeom>
          <a:noFill/>
          <a:ln/>
        </p:spPr>
        <p:txBody>
          <a:bodyPr wrap="square" lIns="0" tIns="0" rIns="0" bIns="0" rtlCol="0" anchor="ctr"/>
          <a:lstStyle/>
          <a:p>
            <a:pPr indent="0" marL="0">
              <a:buNone/>
            </a:pPr>
            <a:r>
              <a:rPr lang="en-US" sz="1000" b="1" spc="170" kern="0" dirty="0">
                <a:solidFill>
                  <a:srgbClr val="8C75DC"/>
                </a:solidFill>
                <a:latin typeface="Aptos" pitchFamily="34" charset="0"/>
                <a:ea typeface="Aptos" pitchFamily="34" charset="-122"/>
                <a:cs typeface="Aptos" pitchFamily="34" charset="-120"/>
              </a:rPr>
              <a:t>EVALUATE</a:t>
            </a:r>
            <a:endParaRPr lang="en-US" sz="1000" dirty="0"/>
          </a:p>
        </p:txBody>
      </p:sp>
      <p:sp>
        <p:nvSpPr>
          <p:cNvPr id="18" name="Text 16"/>
          <p:cNvSpPr/>
          <p:nvPr/>
        </p:nvSpPr>
        <p:spPr>
          <a:xfrm>
            <a:off x="4553712" y="3438144"/>
            <a:ext cx="3063240" cy="329184"/>
          </a:xfrm>
          <a:prstGeom prst="rect">
            <a:avLst/>
          </a:prstGeom>
          <a:noFill/>
          <a:ln/>
        </p:spPr>
        <p:txBody>
          <a:bodyPr wrap="square" lIns="0" tIns="0" rIns="0" bIns="0" rtlCol="0" anchor="ctr"/>
          <a:lstStyle/>
          <a:p>
            <a:pPr indent="0" marL="0">
              <a:buNone/>
            </a:pPr>
            <a:r>
              <a:rPr lang="en-US" sz="2300" b="1" dirty="0">
                <a:solidFill>
                  <a:srgbClr val="151820"/>
                </a:solidFill>
                <a:latin typeface="Aptos" pitchFamily="34" charset="0"/>
                <a:ea typeface="Aptos" pitchFamily="34" charset="-122"/>
                <a:cs typeface="Aptos" pitchFamily="34" charset="-120"/>
              </a:rPr>
              <a:t>See the whole picture</a:t>
            </a:r>
            <a:endParaRPr lang="en-US" sz="2300" dirty="0"/>
          </a:p>
        </p:txBody>
      </p:sp>
      <p:sp>
        <p:nvSpPr>
          <p:cNvPr id="19" name="Text 17"/>
          <p:cNvSpPr/>
          <p:nvPr/>
        </p:nvSpPr>
        <p:spPr>
          <a:xfrm>
            <a:off x="4553712" y="3950208"/>
            <a:ext cx="3026664" cy="39319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Explainable EventRank</a:t>
            </a:r>
            <a:endParaRPr lang="en-US" sz="1500" dirty="0"/>
          </a:p>
          <a:p>
            <a:pPr indent="0" marL="0">
              <a:buNone/>
            </a:pPr>
            <a:r>
              <a:rPr lang="en-US" sz="1500" dirty="0">
                <a:solidFill>
                  <a:srgbClr val="586170"/>
                </a:solidFill>
                <a:latin typeface="Aptos" pitchFamily="34" charset="0"/>
                <a:ea typeface="Aptos" pitchFamily="34" charset="-122"/>
                <a:cs typeface="Aptos" pitchFamily="34" charset="-120"/>
              </a:rPr>
              <a:t>Side-by-side comparison + conflicts</a:t>
            </a:r>
            <a:endParaRPr lang="en-US" sz="1500" dirty="0"/>
          </a:p>
        </p:txBody>
      </p:sp>
      <p:sp>
        <p:nvSpPr>
          <p:cNvPr id="20" name="Shape 18"/>
          <p:cNvSpPr/>
          <p:nvPr/>
        </p:nvSpPr>
        <p:spPr>
          <a:xfrm>
            <a:off x="8083296" y="2670048"/>
            <a:ext cx="3557016" cy="1865376"/>
          </a:xfrm>
          <a:prstGeom prst="roundRect">
            <a:avLst>
              <a:gd name="adj" fmla="val 6373"/>
            </a:avLst>
          </a:prstGeom>
          <a:solidFill>
            <a:srgbClr val="FFFFFF"/>
          </a:solidFill>
          <a:ln w="8890">
            <a:solidFill>
              <a:srgbClr val="E2E6ED"/>
            </a:solidFill>
            <a:prstDash val="solid"/>
          </a:ln>
        </p:spPr>
      </p:sp>
      <p:sp>
        <p:nvSpPr>
          <p:cNvPr id="21" name="Shape 19"/>
          <p:cNvSpPr/>
          <p:nvPr/>
        </p:nvSpPr>
        <p:spPr>
          <a:xfrm>
            <a:off x="8302752" y="2889504"/>
            <a:ext cx="54864" cy="320040"/>
          </a:xfrm>
          <a:prstGeom prst="rect">
            <a:avLst/>
          </a:prstGeom>
          <a:solidFill>
            <a:srgbClr val="C5ED3C"/>
          </a:solidFill>
          <a:ln w="12700">
            <a:solidFill>
              <a:srgbClr val="C5ED3C">
                <a:alpha val="0"/>
              </a:srgbClr>
            </a:solidFill>
            <a:prstDash val="solid"/>
          </a:ln>
        </p:spPr>
      </p:sp>
      <p:sp>
        <p:nvSpPr>
          <p:cNvPr id="22" name="Text 20"/>
          <p:cNvSpPr/>
          <p:nvPr/>
        </p:nvSpPr>
        <p:spPr>
          <a:xfrm>
            <a:off x="8494776" y="2916936"/>
            <a:ext cx="278892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DECIDE &amp; REFLECT</a:t>
            </a:r>
            <a:endParaRPr lang="en-US" sz="1000" dirty="0"/>
          </a:p>
        </p:txBody>
      </p:sp>
      <p:sp>
        <p:nvSpPr>
          <p:cNvPr id="23" name="Text 21"/>
          <p:cNvSpPr/>
          <p:nvPr/>
        </p:nvSpPr>
        <p:spPr>
          <a:xfrm>
            <a:off x="8321040" y="3438144"/>
            <a:ext cx="3063240" cy="329184"/>
          </a:xfrm>
          <a:prstGeom prst="rect">
            <a:avLst/>
          </a:prstGeom>
          <a:noFill/>
          <a:ln/>
        </p:spPr>
        <p:txBody>
          <a:bodyPr wrap="square" lIns="0" tIns="0" rIns="0" bIns="0" rtlCol="0" anchor="ctr"/>
          <a:lstStyle/>
          <a:p>
            <a:pPr indent="0" marL="0">
              <a:buNone/>
            </a:pPr>
            <a:r>
              <a:rPr lang="en-US" sz="2300" b="1" dirty="0">
                <a:solidFill>
                  <a:srgbClr val="151820"/>
                </a:solidFill>
                <a:latin typeface="Aptos" pitchFamily="34" charset="0"/>
                <a:ea typeface="Aptos" pitchFamily="34" charset="-122"/>
                <a:cs typeface="Aptos" pitchFamily="34" charset="-120"/>
              </a:rPr>
              <a:t>Build community trust</a:t>
            </a:r>
            <a:endParaRPr lang="en-US" sz="2300" dirty="0"/>
          </a:p>
        </p:txBody>
      </p:sp>
      <p:sp>
        <p:nvSpPr>
          <p:cNvPr id="24" name="Text 22"/>
          <p:cNvSpPr/>
          <p:nvPr/>
        </p:nvSpPr>
        <p:spPr>
          <a:xfrm>
            <a:off x="8321040" y="3950208"/>
            <a:ext cx="3026664" cy="39319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Save, RSVP + calendar export</a:t>
            </a:r>
            <a:endParaRPr lang="en-US" sz="1500" dirty="0"/>
          </a:p>
          <a:p>
            <a:pPr indent="0" marL="0">
              <a:buNone/>
            </a:pPr>
            <a:r>
              <a:rPr lang="en-US" sz="1500" dirty="0">
                <a:solidFill>
                  <a:srgbClr val="586170"/>
                </a:solidFill>
                <a:latin typeface="Aptos" pitchFamily="34" charset="0"/>
                <a:ea typeface="Aptos" pitchFamily="34" charset="-122"/>
                <a:cs typeface="Aptos" pitchFamily="34" charset="-120"/>
              </a:rPr>
              <a:t>Post-event ratings and reporting</a:t>
            </a:r>
            <a:endParaRPr lang="en-US" sz="1500" dirty="0"/>
          </a:p>
        </p:txBody>
      </p:sp>
      <p:sp>
        <p:nvSpPr>
          <p:cNvPr id="25" name="Shape 23"/>
          <p:cNvSpPr/>
          <p:nvPr/>
        </p:nvSpPr>
        <p:spPr>
          <a:xfrm>
            <a:off x="548640" y="4754880"/>
            <a:ext cx="11091672" cy="585216"/>
          </a:xfrm>
          <a:prstGeom prst="roundRect">
            <a:avLst>
              <a:gd name="adj" fmla="val 20313"/>
            </a:avLst>
          </a:prstGeom>
          <a:solidFill>
            <a:srgbClr val="EEF4D8"/>
          </a:solidFill>
          <a:ln w="8890">
            <a:solidFill>
              <a:srgbClr val="EEF4D8"/>
            </a:solidFill>
            <a:prstDash val="solid"/>
          </a:ln>
        </p:spPr>
      </p:sp>
      <p:sp>
        <p:nvSpPr>
          <p:cNvPr id="26" name="Text 24"/>
          <p:cNvSpPr/>
          <p:nvPr/>
        </p:nvSpPr>
        <p:spPr>
          <a:xfrm>
            <a:off x="777240" y="4928616"/>
            <a:ext cx="1645920" cy="164592"/>
          </a:xfrm>
          <a:prstGeom prst="rect">
            <a:avLst/>
          </a:prstGeom>
          <a:noFill/>
          <a:ln/>
        </p:spPr>
        <p:txBody>
          <a:bodyPr wrap="square" lIns="0" tIns="0" rIns="0" bIns="0" rtlCol="0" anchor="ctr"/>
          <a:lstStyle/>
          <a:p>
            <a:pPr indent="0" marL="0">
              <a:buNone/>
            </a:pPr>
            <a:r>
              <a:rPr lang="en-US" sz="1000" b="1" spc="70" kern="0" dirty="0">
                <a:solidFill>
                  <a:srgbClr val="161D2E"/>
                </a:solidFill>
                <a:latin typeface="Aptos" pitchFamily="34" charset="0"/>
                <a:ea typeface="Aptos" pitchFamily="34" charset="-122"/>
                <a:cs typeface="Aptos" pitchFamily="34" charset="-120"/>
              </a:rPr>
              <a:t>WHY THIS EVENT?</a:t>
            </a:r>
            <a:endParaRPr lang="en-US" sz="1000" dirty="0"/>
          </a:p>
        </p:txBody>
      </p:sp>
      <p:sp>
        <p:nvSpPr>
          <p:cNvPr id="27" name="Text 25"/>
          <p:cNvSpPr/>
          <p:nvPr/>
        </p:nvSpPr>
        <p:spPr>
          <a:xfrm>
            <a:off x="2551176" y="4873752"/>
            <a:ext cx="8686800" cy="301752"/>
          </a:xfrm>
          <a:prstGeom prst="rect">
            <a:avLst/>
          </a:prstGeom>
          <a:noFill/>
          <a:ln/>
        </p:spPr>
        <p:txBody>
          <a:bodyPr wrap="square" lIns="0" tIns="0" rIns="0" bIns="0" rtlCol="0" anchor="ctr"/>
          <a:lstStyle/>
          <a:p>
            <a:pPr indent="0" marL="0">
              <a:buNone/>
            </a:pPr>
            <a:r>
              <a:rPr lang="en-US" sz="1800" dirty="0">
                <a:solidFill>
                  <a:srgbClr val="161D2E"/>
                </a:solidFill>
                <a:latin typeface="Aptos" pitchFamily="34" charset="0"/>
                <a:ea typeface="Aptos" pitchFamily="34" charset="-122"/>
                <a:cs typeface="Aptos" pitchFamily="34" charset="-120"/>
              </a:rPr>
              <a:t>“Matches your interests”   +   “Fits your evening”   +   “Free to attend”</a:t>
            </a:r>
            <a:endParaRPr lang="en-US" sz="1800" dirty="0"/>
          </a:p>
        </p:txBody>
      </p:sp>
      <p:sp>
        <p:nvSpPr>
          <p:cNvPr id="28" name="Text 26"/>
          <p:cNvSpPr/>
          <p:nvPr/>
        </p:nvSpPr>
        <p:spPr>
          <a:xfrm>
            <a:off x="594360" y="5660136"/>
            <a:ext cx="2194560" cy="201168"/>
          </a:xfrm>
          <a:prstGeom prst="rect">
            <a:avLst/>
          </a:prstGeom>
          <a:noFill/>
          <a:ln/>
        </p:spPr>
        <p:txBody>
          <a:bodyPr wrap="square" lIns="0" tIns="0" rIns="0" bIns="0" rtlCol="0" anchor="ctr"/>
          <a:lstStyle/>
          <a:p>
            <a:pPr indent="0" marL="0">
              <a:buNone/>
            </a:pPr>
            <a:r>
              <a:rPr lang="en-US" sz="1000" b="1" spc="170" kern="0" dirty="0">
                <a:solidFill>
                  <a:srgbClr val="7B8492"/>
                </a:solidFill>
                <a:latin typeface="Aptos" pitchFamily="34" charset="0"/>
                <a:ea typeface="Aptos" pitchFamily="34" charset="-122"/>
                <a:cs typeface="Aptos" pitchFamily="34" charset="-120"/>
              </a:rPr>
              <a:t>THE STUDENT JOURNEY</a:t>
            </a:r>
            <a:endParaRPr lang="en-US" sz="1000" dirty="0"/>
          </a:p>
        </p:txBody>
      </p:sp>
      <p:sp>
        <p:nvSpPr>
          <p:cNvPr id="29" name="Text 27"/>
          <p:cNvSpPr/>
          <p:nvPr/>
        </p:nvSpPr>
        <p:spPr>
          <a:xfrm>
            <a:off x="2779776"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Preferences</a:t>
            </a:r>
            <a:endParaRPr lang="en-US" sz="1500" dirty="0"/>
          </a:p>
        </p:txBody>
      </p:sp>
      <p:sp>
        <p:nvSpPr>
          <p:cNvPr id="30" name="Text 28"/>
          <p:cNvSpPr/>
          <p:nvPr/>
        </p:nvSpPr>
        <p:spPr>
          <a:xfrm>
            <a:off x="4224528"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1" name="Text 29"/>
          <p:cNvSpPr/>
          <p:nvPr/>
        </p:nvSpPr>
        <p:spPr>
          <a:xfrm>
            <a:off x="4553712"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Discover</a:t>
            </a:r>
            <a:endParaRPr lang="en-US" sz="1500" dirty="0"/>
          </a:p>
        </p:txBody>
      </p:sp>
      <p:sp>
        <p:nvSpPr>
          <p:cNvPr id="32" name="Text 30"/>
          <p:cNvSpPr/>
          <p:nvPr/>
        </p:nvSpPr>
        <p:spPr>
          <a:xfrm>
            <a:off x="5998464"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3" name="Text 31"/>
          <p:cNvSpPr/>
          <p:nvPr/>
        </p:nvSpPr>
        <p:spPr>
          <a:xfrm>
            <a:off x="6327648"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Compare</a:t>
            </a:r>
            <a:endParaRPr lang="en-US" sz="1500" dirty="0"/>
          </a:p>
        </p:txBody>
      </p:sp>
      <p:sp>
        <p:nvSpPr>
          <p:cNvPr id="34" name="Text 32"/>
          <p:cNvSpPr/>
          <p:nvPr/>
        </p:nvSpPr>
        <p:spPr>
          <a:xfrm>
            <a:off x="7772400"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5" name="Text 33"/>
          <p:cNvSpPr/>
          <p:nvPr/>
        </p:nvSpPr>
        <p:spPr>
          <a:xfrm>
            <a:off x="8101584"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Save / RSVP</a:t>
            </a:r>
            <a:endParaRPr lang="en-US" sz="1500" dirty="0"/>
          </a:p>
        </p:txBody>
      </p:sp>
      <p:sp>
        <p:nvSpPr>
          <p:cNvPr id="36" name="Text 34"/>
          <p:cNvSpPr/>
          <p:nvPr/>
        </p:nvSpPr>
        <p:spPr>
          <a:xfrm>
            <a:off x="9546336"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7" name="Text 35"/>
          <p:cNvSpPr/>
          <p:nvPr/>
        </p:nvSpPr>
        <p:spPr>
          <a:xfrm>
            <a:off x="9875520"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Review</a:t>
            </a:r>
            <a:endParaRPr lang="en-US" sz="1500" dirty="0"/>
          </a:p>
        </p:txBody>
      </p:sp>
      <p:sp>
        <p:nvSpPr>
          <p:cNvPr id="39" name="Text 3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TECHNOLOGY</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04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BUILD</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A pragmatic stack for a 24-hour build</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Fast to demo, structured to scale — with AI used where it improves discovery, not where it hides the logic.</a:t>
            </a:r>
            <a:endParaRPr lang="en-US" sz="1700" dirty="0"/>
          </a:p>
        </p:txBody>
      </p:sp>
      <p:sp>
        <p:nvSpPr>
          <p:cNvPr id="10" name="Shape 8"/>
          <p:cNvSpPr/>
          <p:nvPr/>
        </p:nvSpPr>
        <p:spPr>
          <a:xfrm>
            <a:off x="566928" y="2743200"/>
            <a:ext cx="2249424" cy="1005840"/>
          </a:xfrm>
          <a:prstGeom prst="roundRect">
            <a:avLst>
              <a:gd name="adj" fmla="val 11818"/>
            </a:avLst>
          </a:prstGeom>
          <a:solidFill>
            <a:srgbClr val="FFFFFF"/>
          </a:solidFill>
          <a:ln w="8890">
            <a:solidFill>
              <a:srgbClr val="E2E6ED"/>
            </a:solidFill>
            <a:prstDash val="solid"/>
          </a:ln>
        </p:spPr>
      </p:sp>
      <p:sp>
        <p:nvSpPr>
          <p:cNvPr id="11" name="Shape 9"/>
          <p:cNvSpPr/>
          <p:nvPr/>
        </p:nvSpPr>
        <p:spPr>
          <a:xfrm>
            <a:off x="731520" y="2944368"/>
            <a:ext cx="292608" cy="292608"/>
          </a:xfrm>
          <a:prstGeom prst="ellipse">
            <a:avLst/>
          </a:prstGeom>
          <a:solidFill>
            <a:srgbClr val="5B7CF0"/>
          </a:solidFill>
          <a:ln w="12700">
            <a:solidFill>
              <a:srgbClr val="5B7CF0"/>
            </a:solidFill>
            <a:prstDash val="solid"/>
          </a:ln>
        </p:spPr>
      </p:sp>
      <p:sp>
        <p:nvSpPr>
          <p:cNvPr id="12" name="Text 10"/>
          <p:cNvSpPr/>
          <p:nvPr/>
        </p:nvSpPr>
        <p:spPr>
          <a:xfrm>
            <a:off x="731520"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01</a:t>
            </a:r>
            <a:endParaRPr lang="en-US" sz="900" dirty="0"/>
          </a:p>
        </p:txBody>
      </p:sp>
      <p:sp>
        <p:nvSpPr>
          <p:cNvPr id="13" name="Text 11"/>
          <p:cNvSpPr/>
          <p:nvPr/>
        </p:nvSpPr>
        <p:spPr>
          <a:xfrm>
            <a:off x="1133856" y="2907792"/>
            <a:ext cx="1490472" cy="246888"/>
          </a:xfrm>
          <a:prstGeom prst="rect">
            <a:avLst/>
          </a:prstGeom>
          <a:noFill/>
          <a:ln/>
        </p:spPr>
        <p:txBody>
          <a:bodyPr wrap="square" lIns="0" tIns="0" rIns="0" bIns="0" rtlCol="0" anchor="ctr"/>
          <a:lstStyle/>
          <a:p>
            <a:pPr indent="0" marL="0">
              <a:buNone/>
            </a:pPr>
            <a:r>
              <a:rPr lang="en-US" sz="1500" b="1" dirty="0">
                <a:solidFill>
                  <a:srgbClr val="151820"/>
                </a:solidFill>
                <a:latin typeface="Aptos" pitchFamily="34" charset="0"/>
                <a:ea typeface="Aptos" pitchFamily="34" charset="-122"/>
                <a:cs typeface="Aptos" pitchFamily="34" charset="-120"/>
              </a:rPr>
              <a:t>Student web app</a:t>
            </a:r>
            <a:endParaRPr lang="en-US" sz="1500" dirty="0"/>
          </a:p>
        </p:txBody>
      </p:sp>
      <p:sp>
        <p:nvSpPr>
          <p:cNvPr id="14" name="Text 12"/>
          <p:cNvSpPr/>
          <p:nvPr/>
        </p:nvSpPr>
        <p:spPr>
          <a:xfrm>
            <a:off x="1133856" y="3227832"/>
            <a:ext cx="1490472" cy="329184"/>
          </a:xfrm>
          <a:prstGeom prst="rect">
            <a:avLst/>
          </a:prstGeom>
          <a:noFill/>
          <a:ln/>
        </p:spPr>
        <p:txBody>
          <a:bodyPr wrap="square" lIns="0" tIns="0" rIns="0" bIns="0" rtlCol="0" anchor="ctr"/>
          <a:lstStyle/>
          <a:p>
            <a:pPr indent="0" marL="0">
              <a:buNone/>
            </a:pPr>
            <a:r>
              <a:rPr lang="en-US" sz="1100" dirty="0">
                <a:solidFill>
                  <a:srgbClr val="586170"/>
                </a:solidFill>
                <a:latin typeface="Aptos" pitchFamily="34" charset="0"/>
                <a:ea typeface="Aptos" pitchFamily="34" charset="-122"/>
                <a:cs typeface="Aptos" pitchFamily="34" charset="-120"/>
              </a:rPr>
              <a:t>Next.js + React</a:t>
            </a:r>
            <a:endParaRPr lang="en-US" sz="1100" dirty="0"/>
          </a:p>
        </p:txBody>
      </p:sp>
      <p:sp>
        <p:nvSpPr>
          <p:cNvPr id="15" name="Text 13"/>
          <p:cNvSpPr/>
          <p:nvPr/>
        </p:nvSpPr>
        <p:spPr>
          <a:xfrm>
            <a:off x="2889504" y="3054096"/>
            <a:ext cx="365760" cy="219456"/>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16" name="Shape 14"/>
          <p:cNvSpPr/>
          <p:nvPr/>
        </p:nvSpPr>
        <p:spPr>
          <a:xfrm>
            <a:off x="3337560" y="2743200"/>
            <a:ext cx="2249424" cy="1005840"/>
          </a:xfrm>
          <a:prstGeom prst="roundRect">
            <a:avLst>
              <a:gd name="adj" fmla="val 11818"/>
            </a:avLst>
          </a:prstGeom>
          <a:solidFill>
            <a:srgbClr val="FFFFFF"/>
          </a:solidFill>
          <a:ln w="8890">
            <a:solidFill>
              <a:srgbClr val="E2E6ED"/>
            </a:solidFill>
            <a:prstDash val="solid"/>
          </a:ln>
        </p:spPr>
      </p:sp>
      <p:sp>
        <p:nvSpPr>
          <p:cNvPr id="17" name="Shape 15"/>
          <p:cNvSpPr/>
          <p:nvPr/>
        </p:nvSpPr>
        <p:spPr>
          <a:xfrm>
            <a:off x="3502152" y="2944368"/>
            <a:ext cx="292608" cy="292608"/>
          </a:xfrm>
          <a:prstGeom prst="ellipse">
            <a:avLst/>
          </a:prstGeom>
          <a:solidFill>
            <a:srgbClr val="8C75DC"/>
          </a:solidFill>
          <a:ln w="12700">
            <a:solidFill>
              <a:srgbClr val="8C75DC"/>
            </a:solidFill>
            <a:prstDash val="solid"/>
          </a:ln>
        </p:spPr>
      </p:sp>
      <p:sp>
        <p:nvSpPr>
          <p:cNvPr id="18" name="Text 16"/>
          <p:cNvSpPr/>
          <p:nvPr/>
        </p:nvSpPr>
        <p:spPr>
          <a:xfrm>
            <a:off x="3502152"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02</a:t>
            </a:r>
            <a:endParaRPr lang="en-US" sz="900" dirty="0"/>
          </a:p>
        </p:txBody>
      </p:sp>
      <p:sp>
        <p:nvSpPr>
          <p:cNvPr id="19" name="Text 17"/>
          <p:cNvSpPr/>
          <p:nvPr/>
        </p:nvSpPr>
        <p:spPr>
          <a:xfrm>
            <a:off x="3904488" y="2907792"/>
            <a:ext cx="1490472" cy="246888"/>
          </a:xfrm>
          <a:prstGeom prst="rect">
            <a:avLst/>
          </a:prstGeom>
          <a:noFill/>
          <a:ln/>
        </p:spPr>
        <p:txBody>
          <a:bodyPr wrap="square" lIns="0" tIns="0" rIns="0" bIns="0" rtlCol="0" anchor="ctr"/>
          <a:lstStyle/>
          <a:p>
            <a:pPr indent="0" marL="0">
              <a:buNone/>
            </a:pPr>
            <a:r>
              <a:rPr lang="en-US" sz="1500" b="1" dirty="0">
                <a:solidFill>
                  <a:srgbClr val="151820"/>
                </a:solidFill>
                <a:latin typeface="Aptos" pitchFamily="34" charset="0"/>
                <a:ea typeface="Aptos" pitchFamily="34" charset="-122"/>
                <a:cs typeface="Aptos" pitchFamily="34" charset="-120"/>
              </a:rPr>
              <a:t>API boundary</a:t>
            </a:r>
            <a:endParaRPr lang="en-US" sz="1500" dirty="0"/>
          </a:p>
        </p:txBody>
      </p:sp>
      <p:sp>
        <p:nvSpPr>
          <p:cNvPr id="20" name="Text 18"/>
          <p:cNvSpPr/>
          <p:nvPr/>
        </p:nvSpPr>
        <p:spPr>
          <a:xfrm>
            <a:off x="3904488" y="3227832"/>
            <a:ext cx="1490472" cy="329184"/>
          </a:xfrm>
          <a:prstGeom prst="rect">
            <a:avLst/>
          </a:prstGeom>
          <a:noFill/>
          <a:ln/>
        </p:spPr>
        <p:txBody>
          <a:bodyPr wrap="square" lIns="0" tIns="0" rIns="0" bIns="0" rtlCol="0" anchor="ctr"/>
          <a:lstStyle/>
          <a:p>
            <a:pPr indent="0" marL="0">
              <a:buNone/>
            </a:pPr>
            <a:r>
              <a:rPr lang="en-US" sz="1100" dirty="0">
                <a:solidFill>
                  <a:srgbClr val="586170"/>
                </a:solidFill>
                <a:latin typeface="Aptos" pitchFamily="34" charset="0"/>
                <a:ea typeface="Aptos" pitchFamily="34" charset="-122"/>
                <a:cs typeface="Aptos" pitchFamily="34" charset="-120"/>
              </a:rPr>
              <a:t>Route handlers</a:t>
            </a:r>
            <a:endParaRPr lang="en-US" sz="1100" dirty="0"/>
          </a:p>
          <a:p>
            <a:pPr indent="0" marL="0">
              <a:buNone/>
            </a:pPr>
            <a:r>
              <a:rPr lang="en-US" sz="1100" dirty="0">
                <a:solidFill>
                  <a:srgbClr val="586170"/>
                </a:solidFill>
                <a:latin typeface="Aptos" pitchFamily="34" charset="0"/>
                <a:ea typeface="Aptos" pitchFamily="34" charset="-122"/>
                <a:cs typeface="Aptos" pitchFamily="34" charset="-120"/>
              </a:rPr>
              <a:t>OAuth + JWT</a:t>
            </a:r>
            <a:endParaRPr lang="en-US" sz="1100" dirty="0"/>
          </a:p>
        </p:txBody>
      </p:sp>
      <p:sp>
        <p:nvSpPr>
          <p:cNvPr id="21" name="Text 19"/>
          <p:cNvSpPr/>
          <p:nvPr/>
        </p:nvSpPr>
        <p:spPr>
          <a:xfrm>
            <a:off x="5660136" y="3054096"/>
            <a:ext cx="365760" cy="219456"/>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22" name="Shape 20"/>
          <p:cNvSpPr/>
          <p:nvPr/>
        </p:nvSpPr>
        <p:spPr>
          <a:xfrm>
            <a:off x="6108192" y="2743200"/>
            <a:ext cx="2249424" cy="1005840"/>
          </a:xfrm>
          <a:prstGeom prst="roundRect">
            <a:avLst>
              <a:gd name="adj" fmla="val 11818"/>
            </a:avLst>
          </a:prstGeom>
          <a:solidFill>
            <a:srgbClr val="161D2E"/>
          </a:solidFill>
          <a:ln w="8890">
            <a:solidFill>
              <a:srgbClr val="161D2E"/>
            </a:solidFill>
            <a:prstDash val="solid"/>
          </a:ln>
        </p:spPr>
      </p:sp>
      <p:sp>
        <p:nvSpPr>
          <p:cNvPr id="23" name="Shape 21"/>
          <p:cNvSpPr/>
          <p:nvPr/>
        </p:nvSpPr>
        <p:spPr>
          <a:xfrm>
            <a:off x="6272784" y="2944368"/>
            <a:ext cx="292608" cy="292608"/>
          </a:xfrm>
          <a:prstGeom prst="ellipse">
            <a:avLst/>
          </a:prstGeom>
          <a:solidFill>
            <a:srgbClr val="C5ED3C"/>
          </a:solidFill>
          <a:ln w="12700">
            <a:solidFill>
              <a:srgbClr val="C5ED3C"/>
            </a:solidFill>
            <a:prstDash val="solid"/>
          </a:ln>
        </p:spPr>
      </p:sp>
      <p:sp>
        <p:nvSpPr>
          <p:cNvPr id="24" name="Text 22"/>
          <p:cNvSpPr/>
          <p:nvPr/>
        </p:nvSpPr>
        <p:spPr>
          <a:xfrm>
            <a:off x="6272784"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03</a:t>
            </a:r>
            <a:endParaRPr lang="en-US" sz="900" dirty="0"/>
          </a:p>
        </p:txBody>
      </p:sp>
      <p:sp>
        <p:nvSpPr>
          <p:cNvPr id="25" name="Text 23"/>
          <p:cNvSpPr/>
          <p:nvPr/>
        </p:nvSpPr>
        <p:spPr>
          <a:xfrm>
            <a:off x="6675120" y="2907792"/>
            <a:ext cx="1490472" cy="246888"/>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Decision layer</a:t>
            </a:r>
            <a:endParaRPr lang="en-US" sz="1500" dirty="0"/>
          </a:p>
        </p:txBody>
      </p:sp>
      <p:sp>
        <p:nvSpPr>
          <p:cNvPr id="26" name="Text 24"/>
          <p:cNvSpPr/>
          <p:nvPr/>
        </p:nvSpPr>
        <p:spPr>
          <a:xfrm>
            <a:off x="6675120" y="3227832"/>
            <a:ext cx="1490472" cy="329184"/>
          </a:xfrm>
          <a:prstGeom prst="rect">
            <a:avLst/>
          </a:prstGeom>
          <a:noFill/>
          <a:ln/>
        </p:spPr>
        <p:txBody>
          <a:bodyPr wrap="square" lIns="0" tIns="0" rIns="0" bIns="0" rtlCol="0" anchor="ctr"/>
          <a:lstStyle/>
          <a:p>
            <a:pPr indent="0" marL="0">
              <a:buNone/>
            </a:pPr>
            <a:r>
              <a:rPr lang="en-US" sz="1100" dirty="0">
                <a:solidFill>
                  <a:srgbClr val="B7C0D2"/>
                </a:solidFill>
                <a:latin typeface="Aptos" pitchFamily="34" charset="0"/>
                <a:ea typeface="Aptos" pitchFamily="34" charset="-122"/>
                <a:cs typeface="Aptos" pitchFamily="34" charset="-120"/>
              </a:rPr>
              <a:t>EventRank</a:t>
            </a:r>
            <a:endParaRPr lang="en-US" sz="1100" dirty="0"/>
          </a:p>
          <a:p>
            <a:pPr indent="0" marL="0">
              <a:buNone/>
            </a:pPr>
            <a:r>
              <a:rPr lang="en-US" sz="1100" dirty="0">
                <a:solidFill>
                  <a:srgbClr val="B7C0D2"/>
                </a:solidFill>
                <a:latin typeface="Aptos" pitchFamily="34" charset="0"/>
                <a:ea typeface="Aptos" pitchFamily="34" charset="-122"/>
                <a:cs typeface="Aptos" pitchFamily="34" charset="-120"/>
              </a:rPr>
              <a:t>search + scoring</a:t>
            </a:r>
            <a:endParaRPr lang="en-US" sz="1100" dirty="0"/>
          </a:p>
        </p:txBody>
      </p:sp>
      <p:sp>
        <p:nvSpPr>
          <p:cNvPr id="27" name="Text 25"/>
          <p:cNvSpPr/>
          <p:nvPr/>
        </p:nvSpPr>
        <p:spPr>
          <a:xfrm>
            <a:off x="8430768" y="3054096"/>
            <a:ext cx="365760" cy="219456"/>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28" name="Shape 26"/>
          <p:cNvSpPr/>
          <p:nvPr/>
        </p:nvSpPr>
        <p:spPr>
          <a:xfrm>
            <a:off x="8878824" y="2743200"/>
            <a:ext cx="2249424" cy="1005840"/>
          </a:xfrm>
          <a:prstGeom prst="roundRect">
            <a:avLst>
              <a:gd name="adj" fmla="val 11818"/>
            </a:avLst>
          </a:prstGeom>
          <a:solidFill>
            <a:srgbClr val="FFFFFF"/>
          </a:solidFill>
          <a:ln w="8890">
            <a:solidFill>
              <a:srgbClr val="E2E6ED"/>
            </a:solidFill>
            <a:prstDash val="solid"/>
          </a:ln>
        </p:spPr>
      </p:sp>
      <p:sp>
        <p:nvSpPr>
          <p:cNvPr id="29" name="Shape 27"/>
          <p:cNvSpPr/>
          <p:nvPr/>
        </p:nvSpPr>
        <p:spPr>
          <a:xfrm>
            <a:off x="9043416" y="2944368"/>
            <a:ext cx="292608" cy="292608"/>
          </a:xfrm>
          <a:prstGeom prst="ellipse">
            <a:avLst/>
          </a:prstGeom>
          <a:solidFill>
            <a:srgbClr val="5B7CF0"/>
          </a:solidFill>
          <a:ln w="12700">
            <a:solidFill>
              <a:srgbClr val="5B7CF0"/>
            </a:solidFill>
            <a:prstDash val="solid"/>
          </a:ln>
        </p:spPr>
      </p:sp>
      <p:sp>
        <p:nvSpPr>
          <p:cNvPr id="30" name="Text 28"/>
          <p:cNvSpPr/>
          <p:nvPr/>
        </p:nvSpPr>
        <p:spPr>
          <a:xfrm>
            <a:off x="9043416"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04</a:t>
            </a:r>
            <a:endParaRPr lang="en-US" sz="900" dirty="0"/>
          </a:p>
        </p:txBody>
      </p:sp>
      <p:sp>
        <p:nvSpPr>
          <p:cNvPr id="31" name="Text 29"/>
          <p:cNvSpPr/>
          <p:nvPr/>
        </p:nvSpPr>
        <p:spPr>
          <a:xfrm>
            <a:off x="9445752" y="2907792"/>
            <a:ext cx="1490472" cy="246888"/>
          </a:xfrm>
          <a:prstGeom prst="rect">
            <a:avLst/>
          </a:prstGeom>
          <a:noFill/>
          <a:ln/>
        </p:spPr>
        <p:txBody>
          <a:bodyPr wrap="square" lIns="0" tIns="0" rIns="0" bIns="0" rtlCol="0" anchor="ctr"/>
          <a:lstStyle/>
          <a:p>
            <a:pPr indent="0" marL="0">
              <a:buNone/>
            </a:pPr>
            <a:r>
              <a:rPr lang="en-US" sz="1500" b="1" dirty="0">
                <a:solidFill>
                  <a:srgbClr val="151820"/>
                </a:solidFill>
                <a:latin typeface="Aptos" pitchFamily="34" charset="0"/>
                <a:ea typeface="Aptos" pitchFamily="34" charset="-122"/>
                <a:cs typeface="Aptos" pitchFamily="34" charset="-120"/>
              </a:rPr>
              <a:t>System of record</a:t>
            </a:r>
            <a:endParaRPr lang="en-US" sz="1500" dirty="0"/>
          </a:p>
        </p:txBody>
      </p:sp>
      <p:sp>
        <p:nvSpPr>
          <p:cNvPr id="32" name="Text 30"/>
          <p:cNvSpPr/>
          <p:nvPr/>
        </p:nvSpPr>
        <p:spPr>
          <a:xfrm>
            <a:off x="9445752" y="3227832"/>
            <a:ext cx="1490472" cy="329184"/>
          </a:xfrm>
          <a:prstGeom prst="rect">
            <a:avLst/>
          </a:prstGeom>
          <a:noFill/>
          <a:ln/>
        </p:spPr>
        <p:txBody>
          <a:bodyPr wrap="square" lIns="0" tIns="0" rIns="0" bIns="0" rtlCol="0" anchor="ctr"/>
          <a:lstStyle/>
          <a:p>
            <a:pPr indent="0" marL="0">
              <a:buNone/>
            </a:pPr>
            <a:r>
              <a:rPr lang="en-US" sz="1100" dirty="0">
                <a:solidFill>
                  <a:srgbClr val="586170"/>
                </a:solidFill>
                <a:latin typeface="Aptos" pitchFamily="34" charset="0"/>
                <a:ea typeface="Aptos" pitchFamily="34" charset="-122"/>
                <a:cs typeface="Aptos" pitchFamily="34" charset="-120"/>
              </a:rPr>
              <a:t>Neon Postgres</a:t>
            </a:r>
            <a:endParaRPr lang="en-US" sz="1100" dirty="0"/>
          </a:p>
          <a:p>
            <a:pPr indent="0" marL="0">
              <a:buNone/>
            </a:pPr>
            <a:r>
              <a:rPr lang="en-US" sz="1100" dirty="0">
                <a:solidFill>
                  <a:srgbClr val="586170"/>
                </a:solidFill>
                <a:latin typeface="Aptos" pitchFamily="34" charset="0"/>
                <a:ea typeface="Aptos" pitchFamily="34" charset="-122"/>
                <a:cs typeface="Aptos" pitchFamily="34" charset="-120"/>
              </a:rPr>
              <a:t>Drizzle schema</a:t>
            </a:r>
            <a:endParaRPr lang="en-US" sz="1100" dirty="0"/>
          </a:p>
        </p:txBody>
      </p:sp>
      <p:sp>
        <p:nvSpPr>
          <p:cNvPr id="33" name="Text 31"/>
          <p:cNvSpPr/>
          <p:nvPr/>
        </p:nvSpPr>
        <p:spPr>
          <a:xfrm>
            <a:off x="594360" y="4224528"/>
            <a:ext cx="1828800" cy="201168"/>
          </a:xfrm>
          <a:prstGeom prst="rect">
            <a:avLst/>
          </a:prstGeom>
          <a:noFill/>
          <a:ln/>
        </p:spPr>
        <p:txBody>
          <a:bodyPr wrap="square" lIns="0" tIns="0" rIns="0" bIns="0" rtlCol="0" anchor="ctr"/>
          <a:lstStyle/>
          <a:p>
            <a:pPr indent="0" marL="0">
              <a:buNone/>
            </a:pPr>
            <a:r>
              <a:rPr lang="en-US" sz="1000" b="1" spc="170" kern="0" dirty="0">
                <a:solidFill>
                  <a:srgbClr val="7B8492"/>
                </a:solidFill>
                <a:latin typeface="Aptos" pitchFamily="34" charset="0"/>
                <a:ea typeface="Aptos" pitchFamily="34" charset="-122"/>
                <a:cs typeface="Aptos" pitchFamily="34" charset="-120"/>
              </a:rPr>
              <a:t>CORE STACK</a:t>
            </a:r>
            <a:endParaRPr lang="en-US" sz="1000" dirty="0"/>
          </a:p>
        </p:txBody>
      </p:sp>
      <p:sp>
        <p:nvSpPr>
          <p:cNvPr id="34" name="Shape 32"/>
          <p:cNvSpPr/>
          <p:nvPr/>
        </p:nvSpPr>
        <p:spPr>
          <a:xfrm>
            <a:off x="594360" y="4535424"/>
            <a:ext cx="1719072" cy="283464"/>
          </a:xfrm>
          <a:prstGeom prst="roundRect">
            <a:avLst>
              <a:gd name="adj" fmla="val 41935"/>
            </a:avLst>
          </a:prstGeom>
          <a:solidFill>
            <a:srgbClr val="FFFFFF"/>
          </a:solidFill>
          <a:ln w="8890">
            <a:solidFill>
              <a:srgbClr val="FFFFFF"/>
            </a:solidFill>
            <a:prstDash val="solid"/>
          </a:ln>
        </p:spPr>
      </p:sp>
      <p:sp>
        <p:nvSpPr>
          <p:cNvPr id="35" name="Text 33"/>
          <p:cNvSpPr/>
          <p:nvPr/>
        </p:nvSpPr>
        <p:spPr>
          <a:xfrm>
            <a:off x="658368" y="4549140"/>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Next.js / React</a:t>
            </a:r>
            <a:endParaRPr lang="en-US" sz="1000" dirty="0"/>
          </a:p>
        </p:txBody>
      </p:sp>
      <p:sp>
        <p:nvSpPr>
          <p:cNvPr id="36" name="Shape 34"/>
          <p:cNvSpPr/>
          <p:nvPr/>
        </p:nvSpPr>
        <p:spPr>
          <a:xfrm>
            <a:off x="2514600" y="4535424"/>
            <a:ext cx="1719072" cy="283464"/>
          </a:xfrm>
          <a:prstGeom prst="roundRect">
            <a:avLst>
              <a:gd name="adj" fmla="val 41935"/>
            </a:avLst>
          </a:prstGeom>
          <a:solidFill>
            <a:srgbClr val="FFFFFF"/>
          </a:solidFill>
          <a:ln w="8890">
            <a:solidFill>
              <a:srgbClr val="FFFFFF"/>
            </a:solidFill>
            <a:prstDash val="solid"/>
          </a:ln>
        </p:spPr>
      </p:sp>
      <p:sp>
        <p:nvSpPr>
          <p:cNvPr id="37" name="Text 35"/>
          <p:cNvSpPr/>
          <p:nvPr/>
        </p:nvSpPr>
        <p:spPr>
          <a:xfrm>
            <a:off x="2578608" y="4549140"/>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FastAPI-ready ML seam</a:t>
            </a:r>
            <a:endParaRPr lang="en-US" sz="1000" dirty="0"/>
          </a:p>
        </p:txBody>
      </p:sp>
      <p:sp>
        <p:nvSpPr>
          <p:cNvPr id="38" name="Shape 36"/>
          <p:cNvSpPr/>
          <p:nvPr/>
        </p:nvSpPr>
        <p:spPr>
          <a:xfrm>
            <a:off x="4434840" y="4535424"/>
            <a:ext cx="1719072" cy="283464"/>
          </a:xfrm>
          <a:prstGeom prst="roundRect">
            <a:avLst>
              <a:gd name="adj" fmla="val 41935"/>
            </a:avLst>
          </a:prstGeom>
          <a:solidFill>
            <a:srgbClr val="EEF4D8"/>
          </a:solidFill>
          <a:ln w="8890">
            <a:solidFill>
              <a:srgbClr val="EEF4D8"/>
            </a:solidFill>
            <a:prstDash val="solid"/>
          </a:ln>
        </p:spPr>
      </p:sp>
      <p:sp>
        <p:nvSpPr>
          <p:cNvPr id="39" name="Text 37"/>
          <p:cNvSpPr/>
          <p:nvPr/>
        </p:nvSpPr>
        <p:spPr>
          <a:xfrm>
            <a:off x="4498848" y="4549140"/>
            <a:ext cx="1591056" cy="256032"/>
          </a:xfrm>
          <a:prstGeom prst="rect">
            <a:avLst/>
          </a:prstGeom>
          <a:noFill/>
          <a:ln/>
        </p:spPr>
        <p:txBody>
          <a:bodyPr wrap="square" lIns="0" tIns="0" rIns="0" bIns="0" rtlCol="0" anchor="ctr"/>
          <a:lstStyle/>
          <a:p>
            <a:pPr algn="ctr" indent="0" marL="0">
              <a:buNone/>
            </a:pPr>
            <a:r>
              <a:rPr lang="en-US" sz="1000" b="1" dirty="0">
                <a:solidFill>
                  <a:srgbClr val="161D2E"/>
                </a:solidFill>
                <a:latin typeface="Aptos" pitchFamily="34" charset="0"/>
                <a:ea typeface="Aptos" pitchFamily="34" charset="-122"/>
                <a:cs typeface="Aptos" pitchFamily="34" charset="-120"/>
              </a:rPr>
              <a:t>Neon Postgres</a:t>
            </a:r>
            <a:endParaRPr lang="en-US" sz="1000" dirty="0"/>
          </a:p>
        </p:txBody>
      </p:sp>
      <p:sp>
        <p:nvSpPr>
          <p:cNvPr id="40" name="Shape 38"/>
          <p:cNvSpPr/>
          <p:nvPr/>
        </p:nvSpPr>
        <p:spPr>
          <a:xfrm>
            <a:off x="594360" y="4937760"/>
            <a:ext cx="1719072" cy="283464"/>
          </a:xfrm>
          <a:prstGeom prst="roundRect">
            <a:avLst>
              <a:gd name="adj" fmla="val 41935"/>
            </a:avLst>
          </a:prstGeom>
          <a:solidFill>
            <a:srgbClr val="FFFFFF"/>
          </a:solidFill>
          <a:ln w="8890">
            <a:solidFill>
              <a:srgbClr val="FFFFFF"/>
            </a:solidFill>
            <a:prstDash val="solid"/>
          </a:ln>
        </p:spPr>
      </p:sp>
      <p:sp>
        <p:nvSpPr>
          <p:cNvPr id="41" name="Text 39"/>
          <p:cNvSpPr/>
          <p:nvPr/>
        </p:nvSpPr>
        <p:spPr>
          <a:xfrm>
            <a:off x="658368" y="4951476"/>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OAuth + JWT</a:t>
            </a:r>
            <a:endParaRPr lang="en-US" sz="1000" dirty="0"/>
          </a:p>
        </p:txBody>
      </p:sp>
      <p:sp>
        <p:nvSpPr>
          <p:cNvPr id="42" name="Shape 40"/>
          <p:cNvSpPr/>
          <p:nvPr/>
        </p:nvSpPr>
        <p:spPr>
          <a:xfrm>
            <a:off x="2514600" y="4937760"/>
            <a:ext cx="1719072" cy="283464"/>
          </a:xfrm>
          <a:prstGeom prst="roundRect">
            <a:avLst>
              <a:gd name="adj" fmla="val 41935"/>
            </a:avLst>
          </a:prstGeom>
          <a:solidFill>
            <a:srgbClr val="FFFFFF"/>
          </a:solidFill>
          <a:ln w="8890">
            <a:solidFill>
              <a:srgbClr val="FFFFFF"/>
            </a:solidFill>
            <a:prstDash val="solid"/>
          </a:ln>
        </p:spPr>
      </p:sp>
      <p:sp>
        <p:nvSpPr>
          <p:cNvPr id="43" name="Text 41"/>
          <p:cNvSpPr/>
          <p:nvPr/>
        </p:nvSpPr>
        <p:spPr>
          <a:xfrm>
            <a:off x="2578608" y="4951476"/>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Zod validation</a:t>
            </a:r>
            <a:endParaRPr lang="en-US" sz="1000" dirty="0"/>
          </a:p>
        </p:txBody>
      </p:sp>
      <p:sp>
        <p:nvSpPr>
          <p:cNvPr id="44" name="Shape 42"/>
          <p:cNvSpPr/>
          <p:nvPr/>
        </p:nvSpPr>
        <p:spPr>
          <a:xfrm>
            <a:off x="4434840" y="4937760"/>
            <a:ext cx="1719072" cy="283464"/>
          </a:xfrm>
          <a:prstGeom prst="roundRect">
            <a:avLst>
              <a:gd name="adj" fmla="val 41935"/>
            </a:avLst>
          </a:prstGeom>
          <a:solidFill>
            <a:srgbClr val="FFFFFF"/>
          </a:solidFill>
          <a:ln w="8890">
            <a:solidFill>
              <a:srgbClr val="FFFFFF"/>
            </a:solidFill>
            <a:prstDash val="solid"/>
          </a:ln>
        </p:spPr>
      </p:sp>
      <p:sp>
        <p:nvSpPr>
          <p:cNvPr id="45" name="Text 43"/>
          <p:cNvSpPr/>
          <p:nvPr/>
        </p:nvSpPr>
        <p:spPr>
          <a:xfrm>
            <a:off x="4498848" y="4951476"/>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Playwright / Vitest</a:t>
            </a:r>
            <a:endParaRPr lang="en-US" sz="1000" dirty="0"/>
          </a:p>
        </p:txBody>
      </p:sp>
      <p:sp>
        <p:nvSpPr>
          <p:cNvPr id="46" name="Shape 44"/>
          <p:cNvSpPr/>
          <p:nvPr/>
        </p:nvSpPr>
        <p:spPr>
          <a:xfrm>
            <a:off x="6492240" y="4224528"/>
            <a:ext cx="5148072" cy="1179576"/>
          </a:xfrm>
          <a:prstGeom prst="roundRect">
            <a:avLst>
              <a:gd name="adj" fmla="val 10078"/>
            </a:avLst>
          </a:prstGeom>
          <a:solidFill>
            <a:srgbClr val="FFFFFF"/>
          </a:solidFill>
          <a:ln w="8890">
            <a:solidFill>
              <a:srgbClr val="E2E6ED"/>
            </a:solidFill>
            <a:prstDash val="solid"/>
          </a:ln>
        </p:spPr>
      </p:sp>
      <p:sp>
        <p:nvSpPr>
          <p:cNvPr id="47" name="Text 45"/>
          <p:cNvSpPr/>
          <p:nvPr/>
        </p:nvSpPr>
        <p:spPr>
          <a:xfrm>
            <a:off x="6766560" y="4453128"/>
            <a:ext cx="237744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EXPLAINABLE RANKING</a:t>
            </a:r>
            <a:endParaRPr lang="en-US" sz="1000" dirty="0"/>
          </a:p>
        </p:txBody>
      </p:sp>
      <p:sp>
        <p:nvSpPr>
          <p:cNvPr id="48" name="Text 46"/>
          <p:cNvSpPr/>
          <p:nvPr/>
        </p:nvSpPr>
        <p:spPr>
          <a:xfrm>
            <a:off x="6766560" y="4809744"/>
            <a:ext cx="4480560" cy="228600"/>
          </a:xfrm>
          <a:prstGeom prst="rect">
            <a:avLst/>
          </a:prstGeom>
          <a:noFill/>
          <a:ln/>
        </p:spPr>
        <p:txBody>
          <a:bodyPr wrap="square" lIns="0" tIns="0" rIns="0" bIns="0" rtlCol="0" anchor="ctr"/>
          <a:lstStyle/>
          <a:p>
            <a:pPr indent="0" marL="0">
              <a:buNone/>
            </a:pPr>
            <a:r>
              <a:rPr lang="en-US" sz="1300" b="1" dirty="0">
                <a:solidFill>
                  <a:srgbClr val="151820"/>
                </a:solidFill>
                <a:latin typeface="Aptos" pitchFamily="34" charset="0"/>
                <a:ea typeface="Aptos" pitchFamily="34" charset="-122"/>
                <a:cs typeface="Aptos" pitchFamily="34" charset="-120"/>
              </a:rPr>
              <a:t>30% relevance  +  25% practical fit  +  20% trust</a:t>
            </a:r>
            <a:endParaRPr lang="en-US" sz="1300" dirty="0"/>
          </a:p>
        </p:txBody>
      </p:sp>
      <p:sp>
        <p:nvSpPr>
          <p:cNvPr id="49" name="Text 47"/>
          <p:cNvSpPr/>
          <p:nvPr/>
        </p:nvSpPr>
        <p:spPr>
          <a:xfrm>
            <a:off x="6766560" y="5111496"/>
            <a:ext cx="4480560" cy="228600"/>
          </a:xfrm>
          <a:prstGeom prst="rect">
            <a:avLst/>
          </a:prstGeom>
          <a:noFill/>
          <a:ln/>
        </p:spPr>
        <p:txBody>
          <a:bodyPr wrap="square" lIns="0" tIns="0" rIns="0" bIns="0" rtlCol="0" anchor="ctr"/>
          <a:lstStyle/>
          <a:p>
            <a:pPr indent="0" marL="0">
              <a:buNone/>
            </a:pPr>
            <a:r>
              <a:rPr lang="en-US" sz="1300" dirty="0">
                <a:solidFill>
                  <a:srgbClr val="586170"/>
                </a:solidFill>
                <a:latin typeface="Aptos" pitchFamily="34" charset="0"/>
                <a:ea typeface="Aptos" pitchFamily="34" charset="-122"/>
                <a:cs typeface="Aptos" pitchFamily="34" charset="-120"/>
              </a:rPr>
              <a:t>10% freshness  +  10% community  +  5% diversity</a:t>
            </a:r>
            <a:endParaRPr lang="en-US" sz="1300" dirty="0"/>
          </a:p>
        </p:txBody>
      </p:sp>
      <p:sp>
        <p:nvSpPr>
          <p:cNvPr id="50" name="Shape 48"/>
          <p:cNvSpPr/>
          <p:nvPr/>
        </p:nvSpPr>
        <p:spPr>
          <a:xfrm>
            <a:off x="594360" y="5797296"/>
            <a:ext cx="11045952" cy="393192"/>
          </a:xfrm>
          <a:prstGeom prst="roundRect">
            <a:avLst>
              <a:gd name="adj" fmla="val 30233"/>
            </a:avLst>
          </a:prstGeom>
          <a:solidFill>
            <a:srgbClr val="161D2E"/>
          </a:solidFill>
          <a:ln w="8890">
            <a:solidFill>
              <a:srgbClr val="161D2E"/>
            </a:solidFill>
            <a:prstDash val="solid"/>
          </a:ln>
        </p:spPr>
      </p:sp>
      <p:sp>
        <p:nvSpPr>
          <p:cNvPr id="51" name="Text 49"/>
          <p:cNvSpPr/>
          <p:nvPr/>
        </p:nvSpPr>
        <p:spPr>
          <a:xfrm>
            <a:off x="822960" y="5879592"/>
            <a:ext cx="841248" cy="192024"/>
          </a:xfrm>
          <a:prstGeom prst="rect">
            <a:avLst/>
          </a:prstGeom>
          <a:noFill/>
          <a:ln/>
        </p:spPr>
        <p:txBody>
          <a:bodyPr wrap="square" lIns="0" tIns="0" rIns="0" bIns="0" rtlCol="0" anchor="ctr"/>
          <a:lstStyle/>
          <a:p>
            <a:pPr indent="0" marL="0">
              <a:buNone/>
            </a:pPr>
            <a:r>
              <a:rPr lang="en-US" sz="1100" b="1" dirty="0">
                <a:solidFill>
                  <a:srgbClr val="C5ED3C"/>
                </a:solidFill>
                <a:latin typeface="Aptos" pitchFamily="34" charset="0"/>
                <a:ea typeface="Aptos" pitchFamily="34" charset="-122"/>
                <a:cs typeface="Aptos" pitchFamily="34" charset="-120"/>
              </a:rPr>
              <a:t>AI/ML role:</a:t>
            </a:r>
            <a:endParaRPr lang="en-US" sz="1100" dirty="0"/>
          </a:p>
        </p:txBody>
      </p:sp>
      <p:sp>
        <p:nvSpPr>
          <p:cNvPr id="52" name="Text 50"/>
          <p:cNvSpPr/>
          <p:nvPr/>
        </p:nvSpPr>
        <p:spPr>
          <a:xfrm>
            <a:off x="1755648" y="5852160"/>
            <a:ext cx="9555480" cy="237744"/>
          </a:xfrm>
          <a:prstGeom prst="rect">
            <a:avLst/>
          </a:prstGeom>
          <a:noFill/>
          <a:ln/>
        </p:spPr>
        <p:txBody>
          <a:bodyPr wrap="square" lIns="0" tIns="0" rIns="0" bIns="0" rtlCol="0" anchor="ctr"/>
          <a:lstStyle/>
          <a:p>
            <a:pPr indent="0" marL="0">
              <a:buNone/>
            </a:pPr>
            <a:r>
              <a:rPr lang="en-US" sz="1200" dirty="0">
                <a:solidFill>
                  <a:srgbClr val="FFFFFF"/>
                </a:solidFill>
                <a:latin typeface="Aptos" pitchFamily="34" charset="0"/>
                <a:ea typeface="Aptos" pitchFamily="34" charset="-122"/>
                <a:cs typeface="Aptos" pitchFamily="34" charset="-120"/>
              </a:rPr>
              <a:t>semantic query → candidate retrieval  |  deterministic score → human-readable reasons  |  keyword fallback if embeddings fail</a:t>
            </a:r>
            <a:endParaRPr lang="en-US" sz="1200" dirty="0"/>
          </a:p>
        </p:txBody>
      </p:sp>
      <p:sp>
        <p:nvSpPr>
          <p:cNvPr id="54" name="Text 51"/>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INNOVATION &amp; IMPACT</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05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DIFFERENCE</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Popularity tells you what is loud. EventRank tells you what fits.</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We turn event discovery into a transparent decision system — useful for students and fairer for smaller campus communities.</a:t>
            </a:r>
            <a:endParaRPr lang="en-US" sz="1700" dirty="0"/>
          </a:p>
        </p:txBody>
      </p:sp>
      <p:sp>
        <p:nvSpPr>
          <p:cNvPr id="10" name="Shape 8"/>
          <p:cNvSpPr/>
          <p:nvPr/>
        </p:nvSpPr>
        <p:spPr>
          <a:xfrm>
            <a:off x="548640" y="2706624"/>
            <a:ext cx="3557016" cy="1527048"/>
          </a:xfrm>
          <a:prstGeom prst="roundRect">
            <a:avLst>
              <a:gd name="adj" fmla="val 7784"/>
            </a:avLst>
          </a:prstGeom>
          <a:solidFill>
            <a:srgbClr val="FFFFFF"/>
          </a:solidFill>
          <a:ln w="8890">
            <a:solidFill>
              <a:srgbClr val="E2E6ED"/>
            </a:solidFill>
            <a:prstDash val="solid"/>
          </a:ln>
        </p:spPr>
      </p:sp>
      <p:sp>
        <p:nvSpPr>
          <p:cNvPr id="11" name="Shape 9"/>
          <p:cNvSpPr/>
          <p:nvPr/>
        </p:nvSpPr>
        <p:spPr>
          <a:xfrm>
            <a:off x="777240" y="2953512"/>
            <a:ext cx="338328" cy="338328"/>
          </a:xfrm>
          <a:prstGeom prst="ellipse">
            <a:avLst/>
          </a:prstGeom>
          <a:solidFill>
            <a:srgbClr val="5B7CF0"/>
          </a:solidFill>
          <a:ln w="12700">
            <a:solidFill>
              <a:srgbClr val="5B7CF0"/>
            </a:solidFill>
            <a:prstDash val="solid"/>
          </a:ln>
        </p:spPr>
      </p:sp>
      <p:sp>
        <p:nvSpPr>
          <p:cNvPr id="12" name="Text 10"/>
          <p:cNvSpPr/>
          <p:nvPr/>
        </p:nvSpPr>
        <p:spPr>
          <a:xfrm>
            <a:off x="777240" y="2980944"/>
            <a:ext cx="338328" cy="201168"/>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1</a:t>
            </a:r>
            <a:endParaRPr lang="en-US" sz="1100" dirty="0"/>
          </a:p>
        </p:txBody>
      </p:sp>
      <p:sp>
        <p:nvSpPr>
          <p:cNvPr id="13" name="Text 11"/>
          <p:cNvSpPr/>
          <p:nvPr/>
        </p:nvSpPr>
        <p:spPr>
          <a:xfrm>
            <a:off x="1261872" y="2990088"/>
            <a:ext cx="2578608"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RELEVANCE OVER REACH</a:t>
            </a:r>
            <a:endParaRPr lang="en-US" sz="1000" dirty="0"/>
          </a:p>
        </p:txBody>
      </p:sp>
      <p:sp>
        <p:nvSpPr>
          <p:cNvPr id="14" name="Text 12"/>
          <p:cNvSpPr/>
          <p:nvPr/>
        </p:nvSpPr>
        <p:spPr>
          <a:xfrm>
            <a:off x="777240" y="3493008"/>
            <a:ext cx="3063240" cy="43891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Personal fit is a first-class signal — not an afterthought to popularity.</a:t>
            </a:r>
            <a:endParaRPr lang="en-US" sz="1500" dirty="0"/>
          </a:p>
        </p:txBody>
      </p:sp>
      <p:sp>
        <p:nvSpPr>
          <p:cNvPr id="15" name="Shape 13"/>
          <p:cNvSpPr/>
          <p:nvPr/>
        </p:nvSpPr>
        <p:spPr>
          <a:xfrm>
            <a:off x="4315968" y="2706624"/>
            <a:ext cx="3557016" cy="1527048"/>
          </a:xfrm>
          <a:prstGeom prst="roundRect">
            <a:avLst>
              <a:gd name="adj" fmla="val 7784"/>
            </a:avLst>
          </a:prstGeom>
          <a:solidFill>
            <a:srgbClr val="FFFFFF"/>
          </a:solidFill>
          <a:ln w="8890">
            <a:solidFill>
              <a:srgbClr val="E2E6ED"/>
            </a:solidFill>
            <a:prstDash val="solid"/>
          </a:ln>
        </p:spPr>
      </p:sp>
      <p:sp>
        <p:nvSpPr>
          <p:cNvPr id="16" name="Shape 14"/>
          <p:cNvSpPr/>
          <p:nvPr/>
        </p:nvSpPr>
        <p:spPr>
          <a:xfrm>
            <a:off x="4544568" y="2953512"/>
            <a:ext cx="338328" cy="338328"/>
          </a:xfrm>
          <a:prstGeom prst="ellipse">
            <a:avLst/>
          </a:prstGeom>
          <a:solidFill>
            <a:srgbClr val="8C75DC"/>
          </a:solidFill>
          <a:ln w="12700">
            <a:solidFill>
              <a:srgbClr val="8C75DC"/>
            </a:solidFill>
            <a:prstDash val="solid"/>
          </a:ln>
        </p:spPr>
      </p:sp>
      <p:sp>
        <p:nvSpPr>
          <p:cNvPr id="17" name="Text 15"/>
          <p:cNvSpPr/>
          <p:nvPr/>
        </p:nvSpPr>
        <p:spPr>
          <a:xfrm>
            <a:off x="4544568" y="2980944"/>
            <a:ext cx="338328" cy="201168"/>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2</a:t>
            </a:r>
            <a:endParaRPr lang="en-US" sz="1100" dirty="0"/>
          </a:p>
        </p:txBody>
      </p:sp>
      <p:sp>
        <p:nvSpPr>
          <p:cNvPr id="18" name="Text 16"/>
          <p:cNvSpPr/>
          <p:nvPr/>
        </p:nvSpPr>
        <p:spPr>
          <a:xfrm>
            <a:off x="5029200" y="2990088"/>
            <a:ext cx="2578608" cy="201168"/>
          </a:xfrm>
          <a:prstGeom prst="rect">
            <a:avLst/>
          </a:prstGeom>
          <a:noFill/>
          <a:ln/>
        </p:spPr>
        <p:txBody>
          <a:bodyPr wrap="square" lIns="0" tIns="0" rIns="0" bIns="0" rtlCol="0" anchor="ctr"/>
          <a:lstStyle/>
          <a:p>
            <a:pPr indent="0" marL="0">
              <a:buNone/>
            </a:pPr>
            <a:r>
              <a:rPr lang="en-US" sz="1000" b="1" spc="170" kern="0" dirty="0">
                <a:solidFill>
                  <a:srgbClr val="8C75DC"/>
                </a:solidFill>
                <a:latin typeface="Aptos" pitchFamily="34" charset="0"/>
                <a:ea typeface="Aptos" pitchFamily="34" charset="-122"/>
                <a:cs typeface="Aptos" pitchFamily="34" charset="-120"/>
              </a:rPr>
              <a:t>EXPLAINABLE BY DEFAULT</a:t>
            </a:r>
            <a:endParaRPr lang="en-US" sz="1000" dirty="0"/>
          </a:p>
        </p:txBody>
      </p:sp>
      <p:sp>
        <p:nvSpPr>
          <p:cNvPr id="19" name="Text 17"/>
          <p:cNvSpPr/>
          <p:nvPr/>
        </p:nvSpPr>
        <p:spPr>
          <a:xfrm>
            <a:off x="4544568" y="3493008"/>
            <a:ext cx="3063240" cy="43891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Every score comes with reasons a student can understand and question.</a:t>
            </a:r>
            <a:endParaRPr lang="en-US" sz="1500" dirty="0"/>
          </a:p>
        </p:txBody>
      </p:sp>
      <p:sp>
        <p:nvSpPr>
          <p:cNvPr id="20" name="Shape 18"/>
          <p:cNvSpPr/>
          <p:nvPr/>
        </p:nvSpPr>
        <p:spPr>
          <a:xfrm>
            <a:off x="8083296" y="2706624"/>
            <a:ext cx="3557016" cy="1527048"/>
          </a:xfrm>
          <a:prstGeom prst="roundRect">
            <a:avLst>
              <a:gd name="adj" fmla="val 7784"/>
            </a:avLst>
          </a:prstGeom>
          <a:solidFill>
            <a:srgbClr val="161D2E"/>
          </a:solidFill>
          <a:ln w="8890">
            <a:solidFill>
              <a:srgbClr val="161D2E"/>
            </a:solidFill>
            <a:prstDash val="solid"/>
          </a:ln>
        </p:spPr>
      </p:sp>
      <p:sp>
        <p:nvSpPr>
          <p:cNvPr id="21" name="Shape 19"/>
          <p:cNvSpPr/>
          <p:nvPr/>
        </p:nvSpPr>
        <p:spPr>
          <a:xfrm>
            <a:off x="8311896" y="2953512"/>
            <a:ext cx="338328" cy="338328"/>
          </a:xfrm>
          <a:prstGeom prst="ellipse">
            <a:avLst/>
          </a:prstGeom>
          <a:solidFill>
            <a:srgbClr val="C5ED3C"/>
          </a:solidFill>
          <a:ln w="12700">
            <a:solidFill>
              <a:srgbClr val="C5ED3C"/>
            </a:solidFill>
            <a:prstDash val="solid"/>
          </a:ln>
        </p:spPr>
      </p:sp>
      <p:sp>
        <p:nvSpPr>
          <p:cNvPr id="22" name="Text 20"/>
          <p:cNvSpPr/>
          <p:nvPr/>
        </p:nvSpPr>
        <p:spPr>
          <a:xfrm>
            <a:off x="8311896" y="2980944"/>
            <a:ext cx="338328" cy="201168"/>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3</a:t>
            </a:r>
            <a:endParaRPr lang="en-US" sz="1100" dirty="0"/>
          </a:p>
        </p:txBody>
      </p:sp>
      <p:sp>
        <p:nvSpPr>
          <p:cNvPr id="23" name="Text 21"/>
          <p:cNvSpPr/>
          <p:nvPr/>
        </p:nvSpPr>
        <p:spPr>
          <a:xfrm>
            <a:off x="8796528" y="2990088"/>
            <a:ext cx="2578608"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A FEEDBACK LOOP</a:t>
            </a:r>
            <a:endParaRPr lang="en-US" sz="1000" dirty="0"/>
          </a:p>
        </p:txBody>
      </p:sp>
      <p:sp>
        <p:nvSpPr>
          <p:cNvPr id="24" name="Text 22"/>
          <p:cNvSpPr/>
          <p:nvPr/>
        </p:nvSpPr>
        <p:spPr>
          <a:xfrm>
            <a:off x="8311896" y="3493008"/>
            <a:ext cx="3063240" cy="438912"/>
          </a:xfrm>
          <a:prstGeom prst="rect">
            <a:avLst/>
          </a:prstGeom>
          <a:noFill/>
          <a:ln/>
        </p:spPr>
        <p:txBody>
          <a:bodyPr wrap="square" lIns="0" tIns="0" rIns="0" bIns="0" rtlCol="0" anchor="ctr"/>
          <a:lstStyle/>
          <a:p>
            <a:pPr indent="0" marL="0">
              <a:buNone/>
            </a:pPr>
            <a:r>
              <a:rPr lang="en-US" sz="1500" dirty="0">
                <a:solidFill>
                  <a:srgbClr val="FFFFFF"/>
                </a:solidFill>
                <a:latin typeface="Aptos" pitchFamily="34" charset="0"/>
                <a:ea typeface="Aptos" pitchFamily="34" charset="-122"/>
                <a:cs typeface="Aptos" pitchFamily="34" charset="-120"/>
              </a:rPr>
              <a:t>Reviews make the next student’s decision better than the last announcement.</a:t>
            </a:r>
            <a:endParaRPr lang="en-US" sz="1500" dirty="0"/>
          </a:p>
        </p:txBody>
      </p:sp>
      <p:sp>
        <p:nvSpPr>
          <p:cNvPr id="25" name="Shape 23"/>
          <p:cNvSpPr/>
          <p:nvPr/>
        </p:nvSpPr>
        <p:spPr>
          <a:xfrm>
            <a:off x="548640" y="4590288"/>
            <a:ext cx="6492240" cy="1161288"/>
          </a:xfrm>
          <a:prstGeom prst="roundRect">
            <a:avLst>
              <a:gd name="adj" fmla="val 10236"/>
            </a:avLst>
          </a:prstGeom>
          <a:solidFill>
            <a:srgbClr val="EEF4D8"/>
          </a:solidFill>
          <a:ln w="8890">
            <a:solidFill>
              <a:srgbClr val="EEF4D8"/>
            </a:solidFill>
            <a:prstDash val="solid"/>
          </a:ln>
        </p:spPr>
      </p:sp>
      <p:sp>
        <p:nvSpPr>
          <p:cNvPr id="26" name="Text 24"/>
          <p:cNvSpPr/>
          <p:nvPr/>
        </p:nvSpPr>
        <p:spPr>
          <a:xfrm>
            <a:off x="822960" y="4837176"/>
            <a:ext cx="1737360" cy="182880"/>
          </a:xfrm>
          <a:prstGeom prst="rect">
            <a:avLst/>
          </a:prstGeom>
          <a:noFill/>
          <a:ln/>
        </p:spPr>
        <p:txBody>
          <a:bodyPr wrap="square" lIns="0" tIns="0" rIns="0" bIns="0" rtlCol="0" anchor="ctr"/>
          <a:lstStyle/>
          <a:p>
            <a:pPr indent="0" marL="0">
              <a:buNone/>
            </a:pPr>
            <a:r>
              <a:rPr lang="en-US" sz="1000" b="1" spc="140" kern="0" dirty="0">
                <a:solidFill>
                  <a:srgbClr val="161D2E"/>
                </a:solidFill>
                <a:latin typeface="Aptos" pitchFamily="34" charset="0"/>
                <a:ea typeface="Aptos" pitchFamily="34" charset="-122"/>
                <a:cs typeface="Aptos" pitchFamily="34" charset="-120"/>
              </a:rPr>
              <a:t>EXPECTED IMPACT</a:t>
            </a:r>
            <a:endParaRPr lang="en-US" sz="1000" dirty="0"/>
          </a:p>
        </p:txBody>
      </p:sp>
      <p:sp>
        <p:nvSpPr>
          <p:cNvPr id="27" name="Text 25"/>
          <p:cNvSpPr/>
          <p:nvPr/>
        </p:nvSpPr>
        <p:spPr>
          <a:xfrm>
            <a:off x="822960" y="5157216"/>
            <a:ext cx="1691640" cy="256032"/>
          </a:xfrm>
          <a:prstGeom prst="rect">
            <a:avLst/>
          </a:prstGeom>
          <a:noFill/>
          <a:ln/>
        </p:spPr>
        <p:txBody>
          <a:bodyPr wrap="square" lIns="0" tIns="0" rIns="0" bIns="0" rtlCol="0" anchor="ctr"/>
          <a:lstStyle/>
          <a:p>
            <a:pPr indent="0" marL="0">
              <a:buNone/>
            </a:pPr>
            <a:r>
              <a:rPr lang="en-US" sz="1700" b="1" dirty="0">
                <a:solidFill>
                  <a:srgbClr val="161D2E"/>
                </a:solidFill>
                <a:latin typeface="Aptos" pitchFamily="34" charset="0"/>
                <a:ea typeface="Aptos" pitchFamily="34" charset="-122"/>
                <a:cs typeface="Aptos" pitchFamily="34" charset="-120"/>
              </a:rPr>
              <a:t>Less search fatigue</a:t>
            </a:r>
            <a:endParaRPr lang="en-US" sz="1700" dirty="0"/>
          </a:p>
        </p:txBody>
      </p:sp>
      <p:sp>
        <p:nvSpPr>
          <p:cNvPr id="28" name="Text 26"/>
          <p:cNvSpPr/>
          <p:nvPr/>
        </p:nvSpPr>
        <p:spPr>
          <a:xfrm>
            <a:off x="2770632" y="5157216"/>
            <a:ext cx="1901952" cy="256032"/>
          </a:xfrm>
          <a:prstGeom prst="rect">
            <a:avLst/>
          </a:prstGeom>
          <a:noFill/>
          <a:ln/>
        </p:spPr>
        <p:txBody>
          <a:bodyPr wrap="square" lIns="0" tIns="0" rIns="0" bIns="0" rtlCol="0" anchor="ctr"/>
          <a:lstStyle/>
          <a:p>
            <a:pPr indent="0" marL="0">
              <a:buNone/>
            </a:pPr>
            <a:r>
              <a:rPr lang="en-US" sz="1700" b="1" dirty="0">
                <a:solidFill>
                  <a:srgbClr val="161D2E"/>
                </a:solidFill>
                <a:latin typeface="Aptos" pitchFamily="34" charset="0"/>
                <a:ea typeface="Aptos" pitchFamily="34" charset="-122"/>
                <a:cs typeface="Aptos" pitchFamily="34" charset="-120"/>
              </a:rPr>
              <a:t>More relevant attendance</a:t>
            </a:r>
            <a:endParaRPr lang="en-US" sz="1700" dirty="0"/>
          </a:p>
        </p:txBody>
      </p:sp>
      <p:sp>
        <p:nvSpPr>
          <p:cNvPr id="29" name="Text 27"/>
          <p:cNvSpPr/>
          <p:nvPr/>
        </p:nvSpPr>
        <p:spPr>
          <a:xfrm>
            <a:off x="4956048" y="5157216"/>
            <a:ext cx="1783080" cy="256032"/>
          </a:xfrm>
          <a:prstGeom prst="rect">
            <a:avLst/>
          </a:prstGeom>
          <a:noFill/>
          <a:ln/>
        </p:spPr>
        <p:txBody>
          <a:bodyPr wrap="square" lIns="0" tIns="0" rIns="0" bIns="0" rtlCol="0" anchor="ctr"/>
          <a:lstStyle/>
          <a:p>
            <a:pPr indent="0" marL="0">
              <a:buNone/>
            </a:pPr>
            <a:r>
              <a:rPr lang="en-US" sz="1700" b="1" dirty="0">
                <a:solidFill>
                  <a:srgbClr val="161D2E"/>
                </a:solidFill>
                <a:latin typeface="Aptos" pitchFamily="34" charset="0"/>
                <a:ea typeface="Aptos" pitchFamily="34" charset="-122"/>
                <a:cs typeface="Aptos" pitchFamily="34" charset="-120"/>
              </a:rPr>
              <a:t>Better organizer feedback</a:t>
            </a:r>
            <a:endParaRPr lang="en-US" sz="1700" dirty="0"/>
          </a:p>
        </p:txBody>
      </p:sp>
      <p:sp>
        <p:nvSpPr>
          <p:cNvPr id="30" name="Shape 28"/>
          <p:cNvSpPr/>
          <p:nvPr/>
        </p:nvSpPr>
        <p:spPr>
          <a:xfrm>
            <a:off x="7296912" y="4590288"/>
            <a:ext cx="4343400" cy="1161288"/>
          </a:xfrm>
          <a:prstGeom prst="roundRect">
            <a:avLst>
              <a:gd name="adj" fmla="val 10236"/>
            </a:avLst>
          </a:prstGeom>
          <a:solidFill>
            <a:srgbClr val="FFFFFF"/>
          </a:solidFill>
          <a:ln w="8890">
            <a:solidFill>
              <a:srgbClr val="E2E6ED"/>
            </a:solidFill>
            <a:prstDash val="solid"/>
          </a:ln>
        </p:spPr>
      </p:sp>
      <p:sp>
        <p:nvSpPr>
          <p:cNvPr id="31" name="Text 29"/>
          <p:cNvSpPr/>
          <p:nvPr/>
        </p:nvSpPr>
        <p:spPr>
          <a:xfrm>
            <a:off x="7571232" y="4837176"/>
            <a:ext cx="118872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SCALE PATH</a:t>
            </a:r>
            <a:endParaRPr lang="en-US" sz="1000" dirty="0"/>
          </a:p>
        </p:txBody>
      </p:sp>
      <p:sp>
        <p:nvSpPr>
          <p:cNvPr id="32" name="Text 30"/>
          <p:cNvSpPr/>
          <p:nvPr/>
        </p:nvSpPr>
        <p:spPr>
          <a:xfrm>
            <a:off x="7571232" y="5166360"/>
            <a:ext cx="987552" cy="256032"/>
          </a:xfrm>
          <a:prstGeom prst="rect">
            <a:avLst/>
          </a:prstGeom>
          <a:noFill/>
          <a:ln/>
        </p:spPr>
        <p:txBody>
          <a:bodyPr wrap="square" lIns="0" tIns="0" rIns="0" bIns="0" rtlCol="0" anchor="ctr"/>
          <a:lstStyle/>
          <a:p>
            <a:pPr indent="0" marL="0">
              <a:buNone/>
            </a:pPr>
            <a:r>
              <a:rPr lang="en-US" sz="1700" b="1" dirty="0">
                <a:solidFill>
                  <a:srgbClr val="151820"/>
                </a:solidFill>
                <a:latin typeface="Aptos" pitchFamily="34" charset="0"/>
                <a:ea typeface="Aptos" pitchFamily="34" charset="-122"/>
                <a:cs typeface="Aptos" pitchFamily="34" charset="-120"/>
              </a:rPr>
              <a:t>1 campus</a:t>
            </a:r>
            <a:endParaRPr lang="en-US" sz="1700" dirty="0"/>
          </a:p>
        </p:txBody>
      </p:sp>
      <p:sp>
        <p:nvSpPr>
          <p:cNvPr id="33" name="Text 31"/>
          <p:cNvSpPr/>
          <p:nvPr/>
        </p:nvSpPr>
        <p:spPr>
          <a:xfrm>
            <a:off x="8641080" y="5129784"/>
            <a:ext cx="274320" cy="274320"/>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34" name="Text 32"/>
          <p:cNvSpPr/>
          <p:nvPr/>
        </p:nvSpPr>
        <p:spPr>
          <a:xfrm>
            <a:off x="8988552" y="5166360"/>
            <a:ext cx="1325880" cy="256032"/>
          </a:xfrm>
          <a:prstGeom prst="rect">
            <a:avLst/>
          </a:prstGeom>
          <a:noFill/>
          <a:ln/>
        </p:spPr>
        <p:txBody>
          <a:bodyPr wrap="square" lIns="0" tIns="0" rIns="0" bIns="0" rtlCol="0" anchor="ctr"/>
          <a:lstStyle/>
          <a:p>
            <a:pPr indent="0" marL="0">
              <a:buNone/>
            </a:pPr>
            <a:r>
              <a:rPr lang="en-US" sz="1700" b="1" dirty="0">
                <a:solidFill>
                  <a:srgbClr val="151820"/>
                </a:solidFill>
                <a:latin typeface="Aptos" pitchFamily="34" charset="0"/>
                <a:ea typeface="Aptos" pitchFamily="34" charset="-122"/>
                <a:cs typeface="Aptos" pitchFamily="34" charset="-120"/>
              </a:rPr>
              <a:t>many colleges</a:t>
            </a:r>
            <a:endParaRPr lang="en-US" sz="1700" dirty="0"/>
          </a:p>
        </p:txBody>
      </p:sp>
      <p:sp>
        <p:nvSpPr>
          <p:cNvPr id="35" name="Text 33"/>
          <p:cNvSpPr/>
          <p:nvPr/>
        </p:nvSpPr>
        <p:spPr>
          <a:xfrm>
            <a:off x="10387584" y="5129784"/>
            <a:ext cx="274320" cy="274320"/>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36" name="Text 34"/>
          <p:cNvSpPr/>
          <p:nvPr/>
        </p:nvSpPr>
        <p:spPr>
          <a:xfrm>
            <a:off x="10725912" y="5166360"/>
            <a:ext cx="713232" cy="256032"/>
          </a:xfrm>
          <a:prstGeom prst="rect">
            <a:avLst/>
          </a:prstGeom>
          <a:noFill/>
          <a:ln/>
        </p:spPr>
        <p:txBody>
          <a:bodyPr wrap="square" lIns="0" tIns="0" rIns="0" bIns="0" rtlCol="0" anchor="ctr"/>
          <a:lstStyle/>
          <a:p>
            <a:pPr indent="0" marL="0">
              <a:buNone/>
            </a:pPr>
            <a:r>
              <a:rPr lang="en-US" sz="1400" b="1" dirty="0">
                <a:solidFill>
                  <a:srgbClr val="586170"/>
                </a:solidFill>
                <a:latin typeface="Aptos" pitchFamily="34" charset="0"/>
                <a:ea typeface="Aptos" pitchFamily="34" charset="-122"/>
                <a:cs typeface="Aptos" pitchFamily="34" charset="-120"/>
              </a:rPr>
              <a:t>shared signals</a:t>
            </a:r>
            <a:endParaRPr lang="en-US" sz="1400" dirty="0"/>
          </a:p>
        </p:txBody>
      </p:sp>
      <p:sp>
        <p:nvSpPr>
          <p:cNvPr id="37" name="Text 35"/>
          <p:cNvSpPr/>
          <p:nvPr/>
        </p:nvSpPr>
        <p:spPr>
          <a:xfrm>
            <a:off x="7571232" y="5504688"/>
            <a:ext cx="3749040" cy="201168"/>
          </a:xfrm>
          <a:prstGeom prst="rect">
            <a:avLst/>
          </a:prstGeom>
          <a:noFill/>
          <a:ln/>
        </p:spPr>
        <p:txBody>
          <a:bodyPr wrap="square" lIns="0" tIns="0" rIns="0" bIns="0" rtlCol="0" anchor="ctr"/>
          <a:lstStyle/>
          <a:p>
            <a:pPr indent="0" marL="0">
              <a:buNone/>
            </a:pPr>
            <a:r>
              <a:rPr lang="en-US" sz="1000" dirty="0">
                <a:solidFill>
                  <a:srgbClr val="7B8492"/>
                </a:solidFill>
                <a:latin typeface="Aptos" pitchFamily="34" charset="0"/>
                <a:ea typeface="Aptos" pitchFamily="34" charset="-122"/>
                <a:cs typeface="Aptos" pitchFamily="34" charset="-120"/>
              </a:rPr>
              <a:t>The data model already carries college scope for a safe multi-campus expansion.</a:t>
            </a:r>
            <a:endParaRPr lang="en-US" sz="1000" dirty="0"/>
          </a:p>
        </p:txBody>
      </p:sp>
      <p:sp>
        <p:nvSpPr>
          <p:cNvPr id="39" name="Text 3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E"/>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B7C0D2"/>
                </a:solidFill>
                <a:latin typeface="Aptos" pitchFamily="34" charset="0"/>
                <a:ea typeface="Aptos" pitchFamily="34" charset="-122"/>
                <a:cs typeface="Aptos" pitchFamily="34" charset="-120"/>
              </a:rPr>
              <a:t>PROTOTYPE &amp; EXECUTION</a:t>
            </a:r>
            <a:endParaRPr lang="en-US" sz="1000" dirty="0"/>
          </a:p>
        </p:txBody>
      </p:sp>
      <p:sp>
        <p:nvSpPr>
          <p:cNvPr id="4" name="Shape 2"/>
          <p:cNvSpPr/>
          <p:nvPr/>
        </p:nvSpPr>
        <p:spPr>
          <a:xfrm>
            <a:off x="548640" y="6473952"/>
            <a:ext cx="11091672" cy="0"/>
          </a:xfrm>
          <a:prstGeom prst="line">
            <a:avLst/>
          </a:prstGeom>
          <a:noFill/>
          <a:ln w="8890">
            <a:solidFill>
              <a:srgbClr val="354059"/>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B7C0D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B7C0D2"/>
                </a:solidFill>
                <a:latin typeface="Aptos" pitchFamily="34" charset="0"/>
                <a:ea typeface="Aptos" pitchFamily="34" charset="-122"/>
                <a:cs typeface="Aptos" pitchFamily="34" charset="-120"/>
              </a:rPr>
              <a:t>06 / 06</a:t>
            </a:r>
            <a:endParaRPr lang="en-US" sz="1000" dirty="0"/>
          </a:p>
        </p:txBody>
      </p:sp>
      <p:sp>
        <p:nvSpPr>
          <p:cNvPr id="7" name="Text 5"/>
          <p:cNvSpPr/>
          <p:nvPr/>
        </p:nvSpPr>
        <p:spPr>
          <a:xfrm>
            <a:off x="548640" y="877824"/>
            <a:ext cx="27432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THE MVP IN ONE GLANCE</a:t>
            </a:r>
            <a:endParaRPr lang="en-US" sz="1000" dirty="0"/>
          </a:p>
        </p:txBody>
      </p:sp>
      <p:sp>
        <p:nvSpPr>
          <p:cNvPr id="8" name="Text 6"/>
          <p:cNvSpPr/>
          <p:nvPr/>
        </p:nvSpPr>
        <p:spPr>
          <a:xfrm>
            <a:off x="548640" y="1170432"/>
            <a:ext cx="6949440" cy="521208"/>
          </a:xfrm>
          <a:prstGeom prst="rect">
            <a:avLst/>
          </a:prstGeom>
          <a:noFill/>
          <a:ln/>
        </p:spPr>
        <p:txBody>
          <a:bodyPr wrap="square" lIns="0" tIns="0" rIns="0" bIns="0" rtlCol="0" anchor="ctr"/>
          <a:lstStyle/>
          <a:p>
            <a:pPr indent="0" marL="0">
              <a:buNone/>
            </a:pPr>
            <a:r>
              <a:rPr lang="en-US" sz="3100" b="1" dirty="0">
                <a:solidFill>
                  <a:srgbClr val="FFFFFF"/>
                </a:solidFill>
                <a:latin typeface="Aptos Display" pitchFamily="34" charset="0"/>
                <a:ea typeface="Aptos Display" pitchFamily="34" charset="-122"/>
                <a:cs typeface="Aptos Display" pitchFamily="34" charset="-120"/>
              </a:rPr>
              <a:t>Built for the decision moment.</a:t>
            </a:r>
            <a:endParaRPr lang="en-US" sz="3100" dirty="0"/>
          </a:p>
        </p:txBody>
      </p:sp>
      <p:sp>
        <p:nvSpPr>
          <p:cNvPr id="9" name="Text 7"/>
          <p:cNvSpPr/>
          <p:nvPr/>
        </p:nvSpPr>
        <p:spPr>
          <a:xfrm>
            <a:off x="548640" y="1773936"/>
            <a:ext cx="6858000" cy="356616"/>
          </a:xfrm>
          <a:prstGeom prst="rect">
            <a:avLst/>
          </a:prstGeom>
          <a:noFill/>
          <a:ln/>
        </p:spPr>
        <p:txBody>
          <a:bodyPr wrap="square" lIns="0" tIns="0" rIns="0" bIns="0" rtlCol="0" anchor="ctr"/>
          <a:lstStyle/>
          <a:p>
            <a:pPr indent="0" marL="0">
              <a:buNone/>
            </a:pPr>
            <a:r>
              <a:rPr lang="en-US" sz="1600" dirty="0">
                <a:solidFill>
                  <a:srgbClr val="B7C0D2"/>
                </a:solidFill>
                <a:latin typeface="Aptos" pitchFamily="34" charset="0"/>
                <a:ea typeface="Aptos" pitchFamily="34" charset="-122"/>
                <a:cs typeface="Aptos" pitchFamily="34" charset="-120"/>
              </a:rPr>
              <a:t>A 24-hour plan that ships the full student loop before the stretch features.</a:t>
            </a:r>
            <a:endParaRPr lang="en-US" sz="1600" dirty="0"/>
          </a:p>
        </p:txBody>
      </p:sp>
      <p:sp>
        <p:nvSpPr>
          <p:cNvPr id="10" name="Shape 8"/>
          <p:cNvSpPr/>
          <p:nvPr/>
        </p:nvSpPr>
        <p:spPr>
          <a:xfrm>
            <a:off x="548640" y="2404872"/>
            <a:ext cx="6446520" cy="3246120"/>
          </a:xfrm>
          <a:prstGeom prst="roundRect">
            <a:avLst>
              <a:gd name="adj" fmla="val 3662"/>
            </a:avLst>
          </a:prstGeom>
          <a:solidFill>
            <a:srgbClr val="F2F4F8"/>
          </a:solidFill>
          <a:ln w="8890">
            <a:solidFill>
              <a:srgbClr val="F2F4F8"/>
            </a:solidFill>
            <a:prstDash val="solid"/>
          </a:ln>
        </p:spPr>
      </p:sp>
      <p:sp>
        <p:nvSpPr>
          <p:cNvPr id="11" name="Shape 9"/>
          <p:cNvSpPr/>
          <p:nvPr/>
        </p:nvSpPr>
        <p:spPr>
          <a:xfrm>
            <a:off x="548640" y="2404872"/>
            <a:ext cx="566928" cy="3246120"/>
          </a:xfrm>
          <a:prstGeom prst="rect">
            <a:avLst/>
          </a:prstGeom>
          <a:solidFill>
            <a:srgbClr val="E9EDF3"/>
          </a:solidFill>
          <a:ln w="12700">
            <a:solidFill>
              <a:srgbClr val="E9EDF3">
                <a:alpha val="0"/>
              </a:srgbClr>
            </a:solidFill>
            <a:prstDash val="solid"/>
          </a:ln>
        </p:spPr>
      </p:sp>
      <p:sp>
        <p:nvSpPr>
          <p:cNvPr id="12" name="Shape 10"/>
          <p:cNvSpPr/>
          <p:nvPr/>
        </p:nvSpPr>
        <p:spPr>
          <a:xfrm>
            <a:off x="704088" y="2615184"/>
            <a:ext cx="228600" cy="228600"/>
          </a:xfrm>
          <a:prstGeom prst="ellipse">
            <a:avLst/>
          </a:prstGeom>
          <a:solidFill>
            <a:srgbClr val="161D2E"/>
          </a:solidFill>
          <a:ln w="12700">
            <a:solidFill>
              <a:srgbClr val="161D2E"/>
            </a:solidFill>
            <a:prstDash val="solid"/>
          </a:ln>
        </p:spPr>
      </p:sp>
      <p:sp>
        <p:nvSpPr>
          <p:cNvPr id="13" name="Text 11"/>
          <p:cNvSpPr/>
          <p:nvPr/>
        </p:nvSpPr>
        <p:spPr>
          <a:xfrm>
            <a:off x="704088" y="2660904"/>
            <a:ext cx="228600" cy="128016"/>
          </a:xfrm>
          <a:prstGeom prst="rect">
            <a:avLst/>
          </a:prstGeom>
          <a:noFill/>
          <a:ln/>
        </p:spPr>
        <p:txBody>
          <a:bodyPr wrap="square" lIns="0" tIns="0" rIns="0" bIns="0" rtlCol="0" anchor="ctr"/>
          <a:lstStyle/>
          <a:p>
            <a:pPr algn="ctr" indent="0" marL="0">
              <a:buNone/>
            </a:pPr>
            <a:r>
              <a:rPr lang="en-US" sz="700" b="1" dirty="0">
                <a:solidFill>
                  <a:srgbClr val="C5ED3C"/>
                </a:solidFill>
                <a:latin typeface="Aptos" pitchFamily="34" charset="0"/>
                <a:ea typeface="Aptos" pitchFamily="34" charset="-122"/>
                <a:cs typeface="Aptos" pitchFamily="34" charset="-120"/>
              </a:rPr>
              <a:t>ER</a:t>
            </a:r>
            <a:endParaRPr lang="en-US" sz="700" dirty="0"/>
          </a:p>
        </p:txBody>
      </p:sp>
      <p:sp>
        <p:nvSpPr>
          <p:cNvPr id="14" name="Shape 12"/>
          <p:cNvSpPr/>
          <p:nvPr/>
        </p:nvSpPr>
        <p:spPr>
          <a:xfrm>
            <a:off x="640080" y="3154680"/>
            <a:ext cx="384048" cy="228600"/>
          </a:xfrm>
          <a:prstGeom prst="roundRect">
            <a:avLst>
              <a:gd name="adj" fmla="val 52000"/>
            </a:avLst>
          </a:prstGeom>
          <a:solidFill>
            <a:srgbClr val="161D2E"/>
          </a:solidFill>
          <a:ln w="8890">
            <a:solidFill>
              <a:srgbClr val="161D2E"/>
            </a:solidFill>
            <a:prstDash val="solid"/>
          </a:ln>
        </p:spPr>
      </p:sp>
      <p:sp>
        <p:nvSpPr>
          <p:cNvPr id="15" name="Text 13"/>
          <p:cNvSpPr/>
          <p:nvPr/>
        </p:nvSpPr>
        <p:spPr>
          <a:xfrm>
            <a:off x="1170432" y="3172968"/>
            <a:ext cx="68580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Discover</a:t>
            </a:r>
            <a:endParaRPr lang="en-US" sz="800" dirty="0"/>
          </a:p>
        </p:txBody>
      </p:sp>
      <p:sp>
        <p:nvSpPr>
          <p:cNvPr id="16" name="Shape 14"/>
          <p:cNvSpPr/>
          <p:nvPr/>
        </p:nvSpPr>
        <p:spPr>
          <a:xfrm>
            <a:off x="640080" y="3630168"/>
            <a:ext cx="384048" cy="228600"/>
          </a:xfrm>
          <a:prstGeom prst="roundRect">
            <a:avLst>
              <a:gd name="adj" fmla="val 52000"/>
            </a:avLst>
          </a:prstGeom>
          <a:solidFill>
            <a:srgbClr val="E2E6ED"/>
          </a:solidFill>
          <a:ln w="8890">
            <a:solidFill>
              <a:srgbClr val="E2E6ED"/>
            </a:solidFill>
            <a:prstDash val="solid"/>
          </a:ln>
        </p:spPr>
      </p:sp>
      <p:sp>
        <p:nvSpPr>
          <p:cNvPr id="17" name="Text 15"/>
          <p:cNvSpPr/>
          <p:nvPr/>
        </p:nvSpPr>
        <p:spPr>
          <a:xfrm>
            <a:off x="1170432" y="3648456"/>
            <a:ext cx="68580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Saved</a:t>
            </a:r>
            <a:endParaRPr lang="en-US" sz="800" dirty="0"/>
          </a:p>
        </p:txBody>
      </p:sp>
      <p:sp>
        <p:nvSpPr>
          <p:cNvPr id="18" name="Shape 16"/>
          <p:cNvSpPr/>
          <p:nvPr/>
        </p:nvSpPr>
        <p:spPr>
          <a:xfrm>
            <a:off x="640080" y="4105656"/>
            <a:ext cx="384048" cy="228600"/>
          </a:xfrm>
          <a:prstGeom prst="roundRect">
            <a:avLst>
              <a:gd name="adj" fmla="val 52000"/>
            </a:avLst>
          </a:prstGeom>
          <a:solidFill>
            <a:srgbClr val="E2E6ED"/>
          </a:solidFill>
          <a:ln w="8890">
            <a:solidFill>
              <a:srgbClr val="E2E6ED"/>
            </a:solidFill>
            <a:prstDash val="solid"/>
          </a:ln>
        </p:spPr>
      </p:sp>
      <p:sp>
        <p:nvSpPr>
          <p:cNvPr id="19" name="Text 17"/>
          <p:cNvSpPr/>
          <p:nvPr/>
        </p:nvSpPr>
        <p:spPr>
          <a:xfrm>
            <a:off x="1170432" y="4123944"/>
            <a:ext cx="68580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Prefs</a:t>
            </a:r>
            <a:endParaRPr lang="en-US" sz="800" dirty="0"/>
          </a:p>
        </p:txBody>
      </p:sp>
      <p:sp>
        <p:nvSpPr>
          <p:cNvPr id="20" name="Text 18"/>
          <p:cNvSpPr/>
          <p:nvPr/>
        </p:nvSpPr>
        <p:spPr>
          <a:xfrm>
            <a:off x="1517904" y="2670048"/>
            <a:ext cx="4389120" cy="256032"/>
          </a:xfrm>
          <a:prstGeom prst="rect">
            <a:avLst/>
          </a:prstGeom>
          <a:noFill/>
          <a:ln/>
        </p:spPr>
        <p:txBody>
          <a:bodyPr wrap="square" lIns="0" tIns="0" rIns="0" bIns="0" rtlCol="0" anchor="ctr"/>
          <a:lstStyle/>
          <a:p>
            <a:pPr indent="0" marL="0">
              <a:buNone/>
            </a:pPr>
            <a:r>
              <a:rPr lang="en-US" sz="1600" b="1" dirty="0">
                <a:solidFill>
                  <a:srgbClr val="161D2E"/>
                </a:solidFill>
                <a:latin typeface="Aptos" pitchFamily="34" charset="0"/>
                <a:ea typeface="Aptos" pitchFamily="34" charset="-122"/>
                <a:cs typeface="Aptos" pitchFamily="34" charset="-120"/>
              </a:rPr>
              <a:t>Good choices start with context.</a:t>
            </a:r>
            <a:endParaRPr lang="en-US" sz="1600" dirty="0"/>
          </a:p>
        </p:txBody>
      </p:sp>
      <p:sp>
        <p:nvSpPr>
          <p:cNvPr id="21" name="Shape 19"/>
          <p:cNvSpPr/>
          <p:nvPr/>
        </p:nvSpPr>
        <p:spPr>
          <a:xfrm>
            <a:off x="1517904" y="3063240"/>
            <a:ext cx="4334256" cy="347472"/>
          </a:xfrm>
          <a:prstGeom prst="roundRect">
            <a:avLst>
              <a:gd name="adj" fmla="val 34211"/>
            </a:avLst>
          </a:prstGeom>
          <a:solidFill>
            <a:srgbClr val="FFFFFF"/>
          </a:solidFill>
          <a:ln w="8890">
            <a:solidFill>
              <a:srgbClr val="FFFFFF"/>
            </a:solidFill>
            <a:prstDash val="solid"/>
          </a:ln>
        </p:spPr>
      </p:sp>
      <p:sp>
        <p:nvSpPr>
          <p:cNvPr id="22" name="Text 20"/>
          <p:cNvSpPr/>
          <p:nvPr/>
        </p:nvSpPr>
        <p:spPr>
          <a:xfrm>
            <a:off x="1682496" y="3145536"/>
            <a:ext cx="3054096"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Search events, interests, or goals…</a:t>
            </a:r>
            <a:endParaRPr lang="en-US" sz="900" dirty="0"/>
          </a:p>
        </p:txBody>
      </p:sp>
      <p:sp>
        <p:nvSpPr>
          <p:cNvPr id="23" name="Shape 21"/>
          <p:cNvSpPr/>
          <p:nvPr/>
        </p:nvSpPr>
        <p:spPr>
          <a:xfrm>
            <a:off x="5513832" y="3136392"/>
            <a:ext cx="182880" cy="182880"/>
          </a:xfrm>
          <a:prstGeom prst="ellipse">
            <a:avLst/>
          </a:prstGeom>
          <a:solidFill>
            <a:srgbClr val="C5ED3C"/>
          </a:solidFill>
          <a:ln w="12700">
            <a:solidFill>
              <a:srgbClr val="C5ED3C"/>
            </a:solidFill>
            <a:prstDash val="solid"/>
          </a:ln>
        </p:spPr>
      </p:sp>
      <p:sp>
        <p:nvSpPr>
          <p:cNvPr id="24" name="Shape 22"/>
          <p:cNvSpPr/>
          <p:nvPr/>
        </p:nvSpPr>
        <p:spPr>
          <a:xfrm>
            <a:off x="1517904" y="3639312"/>
            <a:ext cx="4334256" cy="438912"/>
          </a:xfrm>
          <a:prstGeom prst="roundRect">
            <a:avLst>
              <a:gd name="adj" fmla="val 27083"/>
            </a:avLst>
          </a:prstGeom>
          <a:solidFill>
            <a:srgbClr val="FFFFFF"/>
          </a:solidFill>
          <a:ln w="8890">
            <a:solidFill>
              <a:srgbClr val="FFFFFF"/>
            </a:solidFill>
            <a:prstDash val="solid"/>
          </a:ln>
        </p:spPr>
      </p:sp>
      <p:sp>
        <p:nvSpPr>
          <p:cNvPr id="25" name="Shape 23"/>
          <p:cNvSpPr/>
          <p:nvPr/>
        </p:nvSpPr>
        <p:spPr>
          <a:xfrm>
            <a:off x="1655064" y="3749040"/>
            <a:ext cx="73152" cy="210312"/>
          </a:xfrm>
          <a:prstGeom prst="rect">
            <a:avLst/>
          </a:prstGeom>
          <a:solidFill>
            <a:srgbClr val="5B7CF0"/>
          </a:solidFill>
          <a:ln w="12700">
            <a:solidFill>
              <a:srgbClr val="5B7CF0">
                <a:alpha val="0"/>
              </a:srgbClr>
            </a:solidFill>
            <a:prstDash val="solid"/>
          </a:ln>
        </p:spPr>
      </p:sp>
      <p:sp>
        <p:nvSpPr>
          <p:cNvPr id="26" name="Text 24"/>
          <p:cNvSpPr/>
          <p:nvPr/>
        </p:nvSpPr>
        <p:spPr>
          <a:xfrm>
            <a:off x="1892808" y="3712464"/>
            <a:ext cx="1828800" cy="182880"/>
          </a:xfrm>
          <a:prstGeom prst="rect">
            <a:avLst/>
          </a:prstGeom>
          <a:noFill/>
          <a:ln/>
        </p:spPr>
        <p:txBody>
          <a:bodyPr wrap="square" lIns="0" tIns="0" rIns="0" bIns="0" rtlCol="0" anchor="ctr"/>
          <a:lstStyle/>
          <a:p>
            <a:pPr indent="0" marL="0">
              <a:buNone/>
            </a:pPr>
            <a:r>
              <a:rPr lang="en-US" sz="1000" b="1" dirty="0">
                <a:solidFill>
                  <a:srgbClr val="161D2E"/>
                </a:solidFill>
                <a:latin typeface="Aptos" pitchFamily="34" charset="0"/>
                <a:ea typeface="Aptos" pitchFamily="34" charset="-122"/>
                <a:cs typeface="Aptos" pitchFamily="34" charset="-120"/>
              </a:rPr>
              <a:t>Applied AI Studio</a:t>
            </a:r>
            <a:endParaRPr lang="en-US" sz="1000" dirty="0"/>
          </a:p>
        </p:txBody>
      </p:sp>
      <p:sp>
        <p:nvSpPr>
          <p:cNvPr id="27" name="Text 25"/>
          <p:cNvSpPr/>
          <p:nvPr/>
        </p:nvSpPr>
        <p:spPr>
          <a:xfrm>
            <a:off x="3803904" y="3712464"/>
            <a:ext cx="77724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Technology</a:t>
            </a:r>
            <a:endParaRPr lang="en-US" sz="800" dirty="0"/>
          </a:p>
        </p:txBody>
      </p:sp>
      <p:sp>
        <p:nvSpPr>
          <p:cNvPr id="28" name="Shape 26"/>
          <p:cNvSpPr/>
          <p:nvPr/>
        </p:nvSpPr>
        <p:spPr>
          <a:xfrm>
            <a:off x="4892040" y="3721608"/>
            <a:ext cx="658368" cy="246888"/>
          </a:xfrm>
          <a:prstGeom prst="roundRect">
            <a:avLst>
              <a:gd name="adj" fmla="val 48148"/>
            </a:avLst>
          </a:prstGeom>
          <a:solidFill>
            <a:srgbClr val="EEF4D8"/>
          </a:solidFill>
          <a:ln w="8890">
            <a:solidFill>
              <a:srgbClr val="EEF4D8"/>
            </a:solidFill>
            <a:prstDash val="solid"/>
          </a:ln>
        </p:spPr>
      </p:sp>
      <p:sp>
        <p:nvSpPr>
          <p:cNvPr id="29" name="Text 27"/>
          <p:cNvSpPr/>
          <p:nvPr/>
        </p:nvSpPr>
        <p:spPr>
          <a:xfrm>
            <a:off x="4892040" y="3758184"/>
            <a:ext cx="658368" cy="146304"/>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92/100</a:t>
            </a:r>
            <a:endParaRPr lang="en-US" sz="800" dirty="0"/>
          </a:p>
        </p:txBody>
      </p:sp>
      <p:sp>
        <p:nvSpPr>
          <p:cNvPr id="30" name="Shape 28"/>
          <p:cNvSpPr/>
          <p:nvPr/>
        </p:nvSpPr>
        <p:spPr>
          <a:xfrm>
            <a:off x="1517904" y="4215384"/>
            <a:ext cx="4334256" cy="438912"/>
          </a:xfrm>
          <a:prstGeom prst="roundRect">
            <a:avLst>
              <a:gd name="adj" fmla="val 27083"/>
            </a:avLst>
          </a:prstGeom>
          <a:solidFill>
            <a:srgbClr val="FFFFFF"/>
          </a:solidFill>
          <a:ln w="8890">
            <a:solidFill>
              <a:srgbClr val="FFFFFF"/>
            </a:solidFill>
            <a:prstDash val="solid"/>
          </a:ln>
        </p:spPr>
      </p:sp>
      <p:sp>
        <p:nvSpPr>
          <p:cNvPr id="31" name="Shape 29"/>
          <p:cNvSpPr/>
          <p:nvPr/>
        </p:nvSpPr>
        <p:spPr>
          <a:xfrm>
            <a:off x="1655064" y="4325112"/>
            <a:ext cx="73152" cy="210312"/>
          </a:xfrm>
          <a:prstGeom prst="rect">
            <a:avLst/>
          </a:prstGeom>
          <a:solidFill>
            <a:srgbClr val="8C75DC"/>
          </a:solidFill>
          <a:ln w="12700">
            <a:solidFill>
              <a:srgbClr val="8C75DC">
                <a:alpha val="0"/>
              </a:srgbClr>
            </a:solidFill>
            <a:prstDash val="solid"/>
          </a:ln>
        </p:spPr>
      </p:sp>
      <p:sp>
        <p:nvSpPr>
          <p:cNvPr id="32" name="Text 30"/>
          <p:cNvSpPr/>
          <p:nvPr/>
        </p:nvSpPr>
        <p:spPr>
          <a:xfrm>
            <a:off x="1892808" y="4288536"/>
            <a:ext cx="1828800" cy="182880"/>
          </a:xfrm>
          <a:prstGeom prst="rect">
            <a:avLst/>
          </a:prstGeom>
          <a:noFill/>
          <a:ln/>
        </p:spPr>
        <p:txBody>
          <a:bodyPr wrap="square" lIns="0" tIns="0" rIns="0" bIns="0" rtlCol="0" anchor="ctr"/>
          <a:lstStyle/>
          <a:p>
            <a:pPr indent="0" marL="0">
              <a:buNone/>
            </a:pPr>
            <a:r>
              <a:rPr lang="en-US" sz="1000" b="1" dirty="0">
                <a:solidFill>
                  <a:srgbClr val="161D2E"/>
                </a:solidFill>
                <a:latin typeface="Aptos" pitchFamily="34" charset="0"/>
                <a:ea typeface="Aptos" pitchFamily="34" charset="-122"/>
                <a:cs typeface="Aptos" pitchFamily="34" charset="-120"/>
              </a:rPr>
              <a:t>Global Night Market</a:t>
            </a:r>
            <a:endParaRPr lang="en-US" sz="1000" dirty="0"/>
          </a:p>
        </p:txBody>
      </p:sp>
      <p:sp>
        <p:nvSpPr>
          <p:cNvPr id="33" name="Text 31"/>
          <p:cNvSpPr/>
          <p:nvPr/>
        </p:nvSpPr>
        <p:spPr>
          <a:xfrm>
            <a:off x="3803904" y="4288536"/>
            <a:ext cx="77724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Culture</a:t>
            </a:r>
            <a:endParaRPr lang="en-US" sz="800" dirty="0"/>
          </a:p>
        </p:txBody>
      </p:sp>
      <p:sp>
        <p:nvSpPr>
          <p:cNvPr id="34" name="Shape 32"/>
          <p:cNvSpPr/>
          <p:nvPr/>
        </p:nvSpPr>
        <p:spPr>
          <a:xfrm>
            <a:off x="4892040" y="4297680"/>
            <a:ext cx="658368" cy="246888"/>
          </a:xfrm>
          <a:prstGeom prst="roundRect">
            <a:avLst>
              <a:gd name="adj" fmla="val 48148"/>
            </a:avLst>
          </a:prstGeom>
          <a:solidFill>
            <a:srgbClr val="EEF4D8"/>
          </a:solidFill>
          <a:ln w="8890">
            <a:solidFill>
              <a:srgbClr val="EEF4D8"/>
            </a:solidFill>
            <a:prstDash val="solid"/>
          </a:ln>
        </p:spPr>
      </p:sp>
      <p:sp>
        <p:nvSpPr>
          <p:cNvPr id="35" name="Text 33"/>
          <p:cNvSpPr/>
          <p:nvPr/>
        </p:nvSpPr>
        <p:spPr>
          <a:xfrm>
            <a:off x="4892040" y="4334256"/>
            <a:ext cx="658368" cy="146304"/>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86/100</a:t>
            </a:r>
            <a:endParaRPr lang="en-US" sz="800" dirty="0"/>
          </a:p>
        </p:txBody>
      </p:sp>
      <p:sp>
        <p:nvSpPr>
          <p:cNvPr id="36" name="Shape 34"/>
          <p:cNvSpPr/>
          <p:nvPr/>
        </p:nvSpPr>
        <p:spPr>
          <a:xfrm>
            <a:off x="1517904" y="4791456"/>
            <a:ext cx="4334256" cy="438912"/>
          </a:xfrm>
          <a:prstGeom prst="roundRect">
            <a:avLst>
              <a:gd name="adj" fmla="val 27083"/>
            </a:avLst>
          </a:prstGeom>
          <a:solidFill>
            <a:srgbClr val="FFFFFF"/>
          </a:solidFill>
          <a:ln w="8890">
            <a:solidFill>
              <a:srgbClr val="FFFFFF"/>
            </a:solidFill>
            <a:prstDash val="solid"/>
          </a:ln>
        </p:spPr>
      </p:sp>
      <p:sp>
        <p:nvSpPr>
          <p:cNvPr id="37" name="Shape 35"/>
          <p:cNvSpPr/>
          <p:nvPr/>
        </p:nvSpPr>
        <p:spPr>
          <a:xfrm>
            <a:off x="1655064" y="4901184"/>
            <a:ext cx="73152" cy="210312"/>
          </a:xfrm>
          <a:prstGeom prst="rect">
            <a:avLst/>
          </a:prstGeom>
          <a:solidFill>
            <a:srgbClr val="C5ED3C"/>
          </a:solidFill>
          <a:ln w="12700">
            <a:solidFill>
              <a:srgbClr val="C5ED3C">
                <a:alpha val="0"/>
              </a:srgbClr>
            </a:solidFill>
            <a:prstDash val="solid"/>
          </a:ln>
        </p:spPr>
      </p:sp>
      <p:sp>
        <p:nvSpPr>
          <p:cNvPr id="38" name="Text 36"/>
          <p:cNvSpPr/>
          <p:nvPr/>
        </p:nvSpPr>
        <p:spPr>
          <a:xfrm>
            <a:off x="1892808" y="4864608"/>
            <a:ext cx="1828800" cy="182880"/>
          </a:xfrm>
          <a:prstGeom prst="rect">
            <a:avLst/>
          </a:prstGeom>
          <a:noFill/>
          <a:ln/>
        </p:spPr>
        <p:txBody>
          <a:bodyPr wrap="square" lIns="0" tIns="0" rIns="0" bIns="0" rtlCol="0" anchor="ctr"/>
          <a:lstStyle/>
          <a:p>
            <a:pPr indent="0" marL="0">
              <a:buNone/>
            </a:pPr>
            <a:r>
              <a:rPr lang="en-US" sz="1000" b="1" dirty="0">
                <a:solidFill>
                  <a:srgbClr val="161D2E"/>
                </a:solidFill>
                <a:latin typeface="Aptos" pitchFamily="34" charset="0"/>
                <a:ea typeface="Aptos" pitchFamily="34" charset="-122"/>
                <a:cs typeface="Aptos" pitchFamily="34" charset="-120"/>
              </a:rPr>
              <a:t>River Cleanup</a:t>
            </a:r>
            <a:endParaRPr lang="en-US" sz="1000" dirty="0"/>
          </a:p>
        </p:txBody>
      </p:sp>
      <p:sp>
        <p:nvSpPr>
          <p:cNvPr id="39" name="Text 37"/>
          <p:cNvSpPr/>
          <p:nvPr/>
        </p:nvSpPr>
        <p:spPr>
          <a:xfrm>
            <a:off x="3803904" y="4864608"/>
            <a:ext cx="77724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Community</a:t>
            </a:r>
            <a:endParaRPr lang="en-US" sz="800" dirty="0"/>
          </a:p>
        </p:txBody>
      </p:sp>
      <p:sp>
        <p:nvSpPr>
          <p:cNvPr id="40" name="Shape 38"/>
          <p:cNvSpPr/>
          <p:nvPr/>
        </p:nvSpPr>
        <p:spPr>
          <a:xfrm>
            <a:off x="4892040" y="4873752"/>
            <a:ext cx="658368" cy="246888"/>
          </a:xfrm>
          <a:prstGeom prst="roundRect">
            <a:avLst>
              <a:gd name="adj" fmla="val 48148"/>
            </a:avLst>
          </a:prstGeom>
          <a:solidFill>
            <a:srgbClr val="EEF4D8"/>
          </a:solidFill>
          <a:ln w="8890">
            <a:solidFill>
              <a:srgbClr val="EEF4D8"/>
            </a:solidFill>
            <a:prstDash val="solid"/>
          </a:ln>
        </p:spPr>
      </p:sp>
      <p:sp>
        <p:nvSpPr>
          <p:cNvPr id="41" name="Text 39"/>
          <p:cNvSpPr/>
          <p:nvPr/>
        </p:nvSpPr>
        <p:spPr>
          <a:xfrm>
            <a:off x="4892040" y="4910328"/>
            <a:ext cx="658368" cy="146304"/>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84/100</a:t>
            </a:r>
            <a:endParaRPr lang="en-US" sz="800" dirty="0"/>
          </a:p>
        </p:txBody>
      </p:sp>
      <p:sp>
        <p:nvSpPr>
          <p:cNvPr id="42" name="Shape 40"/>
          <p:cNvSpPr/>
          <p:nvPr/>
        </p:nvSpPr>
        <p:spPr>
          <a:xfrm>
            <a:off x="1517904" y="5431536"/>
            <a:ext cx="4334256" cy="210312"/>
          </a:xfrm>
          <a:prstGeom prst="roundRect">
            <a:avLst>
              <a:gd name="adj" fmla="val 56522"/>
            </a:avLst>
          </a:prstGeom>
          <a:solidFill>
            <a:srgbClr val="161D2E"/>
          </a:solidFill>
          <a:ln w="8890">
            <a:solidFill>
              <a:srgbClr val="161D2E"/>
            </a:solidFill>
            <a:prstDash val="solid"/>
          </a:ln>
        </p:spPr>
      </p:sp>
      <p:sp>
        <p:nvSpPr>
          <p:cNvPr id="43" name="Text 41"/>
          <p:cNvSpPr/>
          <p:nvPr/>
        </p:nvSpPr>
        <p:spPr>
          <a:xfrm>
            <a:off x="1682496" y="5449824"/>
            <a:ext cx="3977640" cy="146304"/>
          </a:xfrm>
          <a:prstGeom prst="rect">
            <a:avLst/>
          </a:prstGeom>
          <a:noFill/>
          <a:ln/>
        </p:spPr>
        <p:txBody>
          <a:bodyPr wrap="square" lIns="0" tIns="0" rIns="0" bIns="0" rtlCol="0" anchor="ctr"/>
          <a:lstStyle/>
          <a:p>
            <a:pPr indent="0" marL="0">
              <a:buNone/>
            </a:pPr>
            <a:r>
              <a:rPr lang="en-US" sz="800" dirty="0">
                <a:solidFill>
                  <a:srgbClr val="FFFFFF"/>
                </a:solidFill>
                <a:latin typeface="Aptos" pitchFamily="34" charset="0"/>
                <a:ea typeface="Aptos" pitchFamily="34" charset="-122"/>
                <a:cs typeface="Aptos" pitchFamily="34" charset="-120"/>
              </a:rPr>
              <a:t>Why this ranks high: interest match  •  evening fit  •  free</a:t>
            </a:r>
            <a:endParaRPr lang="en-US" sz="800" dirty="0"/>
          </a:p>
        </p:txBody>
      </p:sp>
      <p:sp>
        <p:nvSpPr>
          <p:cNvPr id="44" name="Text 42"/>
          <p:cNvSpPr/>
          <p:nvPr/>
        </p:nvSpPr>
        <p:spPr>
          <a:xfrm>
            <a:off x="7498080" y="2450592"/>
            <a:ext cx="27432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24-HOUR EXECUTION</a:t>
            </a:r>
            <a:endParaRPr lang="en-US" sz="1000" dirty="0"/>
          </a:p>
        </p:txBody>
      </p:sp>
      <p:sp>
        <p:nvSpPr>
          <p:cNvPr id="45" name="Shape 43"/>
          <p:cNvSpPr/>
          <p:nvPr/>
        </p:nvSpPr>
        <p:spPr>
          <a:xfrm>
            <a:off x="7516368" y="2852928"/>
            <a:ext cx="246888" cy="246888"/>
          </a:xfrm>
          <a:prstGeom prst="ellipse">
            <a:avLst/>
          </a:prstGeom>
          <a:solidFill>
            <a:srgbClr val="5B7CF0"/>
          </a:solidFill>
          <a:ln w="12700">
            <a:solidFill>
              <a:srgbClr val="5B7CF0"/>
            </a:solidFill>
            <a:prstDash val="solid"/>
          </a:ln>
        </p:spPr>
      </p:sp>
      <p:sp>
        <p:nvSpPr>
          <p:cNvPr id="46" name="Text 44"/>
          <p:cNvSpPr/>
          <p:nvPr/>
        </p:nvSpPr>
        <p:spPr>
          <a:xfrm>
            <a:off x="7516368" y="2894076"/>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1</a:t>
            </a:r>
            <a:endParaRPr lang="en-US" sz="800" dirty="0"/>
          </a:p>
        </p:txBody>
      </p:sp>
      <p:sp>
        <p:nvSpPr>
          <p:cNvPr id="47" name="Text 45"/>
          <p:cNvSpPr/>
          <p:nvPr/>
        </p:nvSpPr>
        <p:spPr>
          <a:xfrm>
            <a:off x="7927848" y="2816352"/>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00–04</a:t>
            </a:r>
            <a:endParaRPr lang="en-US" sz="1200" dirty="0"/>
          </a:p>
        </p:txBody>
      </p:sp>
      <p:sp>
        <p:nvSpPr>
          <p:cNvPr id="48" name="Text 46"/>
          <p:cNvSpPr/>
          <p:nvPr/>
        </p:nvSpPr>
        <p:spPr>
          <a:xfrm>
            <a:off x="8759952" y="2816352"/>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Foundation</a:t>
            </a:r>
            <a:endParaRPr lang="en-US" sz="1400" dirty="0"/>
          </a:p>
        </p:txBody>
      </p:sp>
      <p:sp>
        <p:nvSpPr>
          <p:cNvPr id="49" name="Text 47"/>
          <p:cNvSpPr/>
          <p:nvPr/>
        </p:nvSpPr>
        <p:spPr>
          <a:xfrm>
            <a:off x="8759952" y="3026664"/>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schema · auth · app shell</a:t>
            </a:r>
            <a:endParaRPr lang="en-US" sz="1000" dirty="0"/>
          </a:p>
        </p:txBody>
      </p:sp>
      <p:sp>
        <p:nvSpPr>
          <p:cNvPr id="50" name="Shape 48"/>
          <p:cNvSpPr/>
          <p:nvPr/>
        </p:nvSpPr>
        <p:spPr>
          <a:xfrm>
            <a:off x="7635240" y="3118104"/>
            <a:ext cx="0" cy="265176"/>
          </a:xfrm>
          <a:prstGeom prst="line">
            <a:avLst/>
          </a:prstGeom>
          <a:noFill/>
          <a:ln w="12700">
            <a:solidFill>
              <a:srgbClr val="42506B"/>
            </a:solidFill>
            <a:prstDash val="solid"/>
          </a:ln>
        </p:spPr>
      </p:sp>
      <p:sp>
        <p:nvSpPr>
          <p:cNvPr id="51" name="Shape 49"/>
          <p:cNvSpPr/>
          <p:nvPr/>
        </p:nvSpPr>
        <p:spPr>
          <a:xfrm>
            <a:off x="7516368" y="3410712"/>
            <a:ext cx="246888" cy="246888"/>
          </a:xfrm>
          <a:prstGeom prst="ellipse">
            <a:avLst/>
          </a:prstGeom>
          <a:solidFill>
            <a:srgbClr val="5B7CF0"/>
          </a:solidFill>
          <a:ln w="12700">
            <a:solidFill>
              <a:srgbClr val="5B7CF0"/>
            </a:solidFill>
            <a:prstDash val="solid"/>
          </a:ln>
        </p:spPr>
      </p:sp>
      <p:sp>
        <p:nvSpPr>
          <p:cNvPr id="52" name="Text 50"/>
          <p:cNvSpPr/>
          <p:nvPr/>
        </p:nvSpPr>
        <p:spPr>
          <a:xfrm>
            <a:off x="7516368" y="3451860"/>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2</a:t>
            </a:r>
            <a:endParaRPr lang="en-US" sz="800" dirty="0"/>
          </a:p>
        </p:txBody>
      </p:sp>
      <p:sp>
        <p:nvSpPr>
          <p:cNvPr id="53" name="Text 51"/>
          <p:cNvSpPr/>
          <p:nvPr/>
        </p:nvSpPr>
        <p:spPr>
          <a:xfrm>
            <a:off x="7927848" y="3374136"/>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04–10</a:t>
            </a:r>
            <a:endParaRPr lang="en-US" sz="1200" dirty="0"/>
          </a:p>
        </p:txBody>
      </p:sp>
      <p:sp>
        <p:nvSpPr>
          <p:cNvPr id="54" name="Text 52"/>
          <p:cNvSpPr/>
          <p:nvPr/>
        </p:nvSpPr>
        <p:spPr>
          <a:xfrm>
            <a:off x="8759952" y="3374136"/>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Discovery</a:t>
            </a:r>
            <a:endParaRPr lang="en-US" sz="1400" dirty="0"/>
          </a:p>
        </p:txBody>
      </p:sp>
      <p:sp>
        <p:nvSpPr>
          <p:cNvPr id="55" name="Text 53"/>
          <p:cNvSpPr/>
          <p:nvPr/>
        </p:nvSpPr>
        <p:spPr>
          <a:xfrm>
            <a:off x="8759952" y="3584448"/>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catalog · search · event detail</a:t>
            </a:r>
            <a:endParaRPr lang="en-US" sz="1000" dirty="0"/>
          </a:p>
        </p:txBody>
      </p:sp>
      <p:sp>
        <p:nvSpPr>
          <p:cNvPr id="56" name="Shape 54"/>
          <p:cNvSpPr/>
          <p:nvPr/>
        </p:nvSpPr>
        <p:spPr>
          <a:xfrm>
            <a:off x="7635240" y="3675888"/>
            <a:ext cx="0" cy="265176"/>
          </a:xfrm>
          <a:prstGeom prst="line">
            <a:avLst/>
          </a:prstGeom>
          <a:noFill/>
          <a:ln w="12700">
            <a:solidFill>
              <a:srgbClr val="42506B"/>
            </a:solidFill>
            <a:prstDash val="solid"/>
          </a:ln>
        </p:spPr>
      </p:sp>
      <p:sp>
        <p:nvSpPr>
          <p:cNvPr id="57" name="Shape 55"/>
          <p:cNvSpPr/>
          <p:nvPr/>
        </p:nvSpPr>
        <p:spPr>
          <a:xfrm>
            <a:off x="7516368" y="3968496"/>
            <a:ext cx="246888" cy="246888"/>
          </a:xfrm>
          <a:prstGeom prst="ellipse">
            <a:avLst/>
          </a:prstGeom>
          <a:solidFill>
            <a:srgbClr val="C5ED3C"/>
          </a:solidFill>
          <a:ln w="12700">
            <a:solidFill>
              <a:srgbClr val="C5ED3C"/>
            </a:solidFill>
            <a:prstDash val="solid"/>
          </a:ln>
        </p:spPr>
      </p:sp>
      <p:sp>
        <p:nvSpPr>
          <p:cNvPr id="58" name="Text 56"/>
          <p:cNvSpPr/>
          <p:nvPr/>
        </p:nvSpPr>
        <p:spPr>
          <a:xfrm>
            <a:off x="7516368" y="4009644"/>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3</a:t>
            </a:r>
            <a:endParaRPr lang="en-US" sz="800" dirty="0"/>
          </a:p>
        </p:txBody>
      </p:sp>
      <p:sp>
        <p:nvSpPr>
          <p:cNvPr id="59" name="Text 57"/>
          <p:cNvSpPr/>
          <p:nvPr/>
        </p:nvSpPr>
        <p:spPr>
          <a:xfrm>
            <a:off x="7927848" y="3931920"/>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10–16</a:t>
            </a:r>
            <a:endParaRPr lang="en-US" sz="1200" dirty="0"/>
          </a:p>
        </p:txBody>
      </p:sp>
      <p:sp>
        <p:nvSpPr>
          <p:cNvPr id="60" name="Text 58"/>
          <p:cNvSpPr/>
          <p:nvPr/>
        </p:nvSpPr>
        <p:spPr>
          <a:xfrm>
            <a:off x="8759952" y="3931920"/>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Decision tools</a:t>
            </a:r>
            <a:endParaRPr lang="en-US" sz="1400" dirty="0"/>
          </a:p>
        </p:txBody>
      </p:sp>
      <p:sp>
        <p:nvSpPr>
          <p:cNvPr id="61" name="Text 59"/>
          <p:cNvSpPr/>
          <p:nvPr/>
        </p:nvSpPr>
        <p:spPr>
          <a:xfrm>
            <a:off x="8759952" y="4142232"/>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rank · compare · save · review</a:t>
            </a:r>
            <a:endParaRPr lang="en-US" sz="1000" dirty="0"/>
          </a:p>
        </p:txBody>
      </p:sp>
      <p:sp>
        <p:nvSpPr>
          <p:cNvPr id="62" name="Shape 60"/>
          <p:cNvSpPr/>
          <p:nvPr/>
        </p:nvSpPr>
        <p:spPr>
          <a:xfrm>
            <a:off x="7635240" y="4233672"/>
            <a:ext cx="0" cy="265176"/>
          </a:xfrm>
          <a:prstGeom prst="line">
            <a:avLst/>
          </a:prstGeom>
          <a:noFill/>
          <a:ln w="12700">
            <a:solidFill>
              <a:srgbClr val="42506B"/>
            </a:solidFill>
            <a:prstDash val="solid"/>
          </a:ln>
        </p:spPr>
      </p:sp>
      <p:sp>
        <p:nvSpPr>
          <p:cNvPr id="63" name="Shape 61"/>
          <p:cNvSpPr/>
          <p:nvPr/>
        </p:nvSpPr>
        <p:spPr>
          <a:xfrm>
            <a:off x="7516368" y="4526280"/>
            <a:ext cx="246888" cy="246888"/>
          </a:xfrm>
          <a:prstGeom prst="ellipse">
            <a:avLst/>
          </a:prstGeom>
          <a:solidFill>
            <a:srgbClr val="5B7CF0"/>
          </a:solidFill>
          <a:ln w="12700">
            <a:solidFill>
              <a:srgbClr val="5B7CF0"/>
            </a:solidFill>
            <a:prstDash val="solid"/>
          </a:ln>
        </p:spPr>
      </p:sp>
      <p:sp>
        <p:nvSpPr>
          <p:cNvPr id="64" name="Text 62"/>
          <p:cNvSpPr/>
          <p:nvPr/>
        </p:nvSpPr>
        <p:spPr>
          <a:xfrm>
            <a:off x="7516368" y="4567428"/>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4</a:t>
            </a:r>
            <a:endParaRPr lang="en-US" sz="800" dirty="0"/>
          </a:p>
        </p:txBody>
      </p:sp>
      <p:sp>
        <p:nvSpPr>
          <p:cNvPr id="65" name="Text 63"/>
          <p:cNvSpPr/>
          <p:nvPr/>
        </p:nvSpPr>
        <p:spPr>
          <a:xfrm>
            <a:off x="7927848" y="4489704"/>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16–21</a:t>
            </a:r>
            <a:endParaRPr lang="en-US" sz="1200" dirty="0"/>
          </a:p>
        </p:txBody>
      </p:sp>
      <p:sp>
        <p:nvSpPr>
          <p:cNvPr id="66" name="Text 64"/>
          <p:cNvSpPr/>
          <p:nvPr/>
        </p:nvSpPr>
        <p:spPr>
          <a:xfrm>
            <a:off x="8759952" y="4489704"/>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Polish</a:t>
            </a:r>
            <a:endParaRPr lang="en-US" sz="1400" dirty="0"/>
          </a:p>
        </p:txBody>
      </p:sp>
      <p:sp>
        <p:nvSpPr>
          <p:cNvPr id="67" name="Text 65"/>
          <p:cNvSpPr/>
          <p:nvPr/>
        </p:nvSpPr>
        <p:spPr>
          <a:xfrm>
            <a:off x="8759952" y="4700016"/>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responsive UI · testing · deploy</a:t>
            </a:r>
            <a:endParaRPr lang="en-US" sz="1000" dirty="0"/>
          </a:p>
        </p:txBody>
      </p:sp>
      <p:sp>
        <p:nvSpPr>
          <p:cNvPr id="68" name="Shape 66"/>
          <p:cNvSpPr/>
          <p:nvPr/>
        </p:nvSpPr>
        <p:spPr>
          <a:xfrm>
            <a:off x="7635240" y="4791456"/>
            <a:ext cx="0" cy="265176"/>
          </a:xfrm>
          <a:prstGeom prst="line">
            <a:avLst/>
          </a:prstGeom>
          <a:noFill/>
          <a:ln w="12700">
            <a:solidFill>
              <a:srgbClr val="42506B"/>
            </a:solidFill>
            <a:prstDash val="solid"/>
          </a:ln>
        </p:spPr>
      </p:sp>
      <p:sp>
        <p:nvSpPr>
          <p:cNvPr id="69" name="Shape 67"/>
          <p:cNvSpPr/>
          <p:nvPr/>
        </p:nvSpPr>
        <p:spPr>
          <a:xfrm>
            <a:off x="7516368" y="5084064"/>
            <a:ext cx="246888" cy="246888"/>
          </a:xfrm>
          <a:prstGeom prst="ellipse">
            <a:avLst/>
          </a:prstGeom>
          <a:solidFill>
            <a:srgbClr val="5B7CF0"/>
          </a:solidFill>
          <a:ln w="12700">
            <a:solidFill>
              <a:srgbClr val="5B7CF0"/>
            </a:solidFill>
            <a:prstDash val="solid"/>
          </a:ln>
        </p:spPr>
      </p:sp>
      <p:sp>
        <p:nvSpPr>
          <p:cNvPr id="70" name="Text 68"/>
          <p:cNvSpPr/>
          <p:nvPr/>
        </p:nvSpPr>
        <p:spPr>
          <a:xfrm>
            <a:off x="7516368" y="5125212"/>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5</a:t>
            </a:r>
            <a:endParaRPr lang="en-US" sz="800" dirty="0"/>
          </a:p>
        </p:txBody>
      </p:sp>
      <p:sp>
        <p:nvSpPr>
          <p:cNvPr id="71" name="Text 69"/>
          <p:cNvSpPr/>
          <p:nvPr/>
        </p:nvSpPr>
        <p:spPr>
          <a:xfrm>
            <a:off x="7927848" y="5047488"/>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21–24</a:t>
            </a:r>
            <a:endParaRPr lang="en-US" sz="1200" dirty="0"/>
          </a:p>
        </p:txBody>
      </p:sp>
      <p:sp>
        <p:nvSpPr>
          <p:cNvPr id="72" name="Text 70"/>
          <p:cNvSpPr/>
          <p:nvPr/>
        </p:nvSpPr>
        <p:spPr>
          <a:xfrm>
            <a:off x="8759952" y="5047488"/>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Demo ready</a:t>
            </a:r>
            <a:endParaRPr lang="en-US" sz="1400" dirty="0"/>
          </a:p>
        </p:txBody>
      </p:sp>
      <p:sp>
        <p:nvSpPr>
          <p:cNvPr id="73" name="Text 71"/>
          <p:cNvSpPr/>
          <p:nvPr/>
        </p:nvSpPr>
        <p:spPr>
          <a:xfrm>
            <a:off x="8759952" y="5257800"/>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freeze · rehearse · present</a:t>
            </a:r>
            <a:endParaRPr lang="en-US" sz="1000" dirty="0"/>
          </a:p>
        </p:txBody>
      </p:sp>
      <p:sp>
        <p:nvSpPr>
          <p:cNvPr id="74" name="Shape 72"/>
          <p:cNvSpPr/>
          <p:nvPr/>
        </p:nvSpPr>
        <p:spPr>
          <a:xfrm>
            <a:off x="7498080" y="5769864"/>
            <a:ext cx="4133088" cy="393192"/>
          </a:xfrm>
          <a:prstGeom prst="roundRect">
            <a:avLst>
              <a:gd name="adj" fmla="val 30233"/>
            </a:avLst>
          </a:prstGeom>
          <a:solidFill>
            <a:srgbClr val="20283C"/>
          </a:solidFill>
          <a:ln w="8890">
            <a:solidFill>
              <a:srgbClr val="20283C"/>
            </a:solidFill>
            <a:prstDash val="solid"/>
          </a:ln>
        </p:spPr>
      </p:sp>
      <p:sp>
        <p:nvSpPr>
          <p:cNvPr id="75" name="Text 73"/>
          <p:cNvSpPr/>
          <p:nvPr/>
        </p:nvSpPr>
        <p:spPr>
          <a:xfrm>
            <a:off x="7708392" y="5861304"/>
            <a:ext cx="3703320" cy="164592"/>
          </a:xfrm>
          <a:prstGeom prst="rect">
            <a:avLst/>
          </a:prstGeom>
          <a:noFill/>
          <a:ln/>
        </p:spPr>
        <p:txBody>
          <a:bodyPr wrap="square" lIns="0" tIns="0" rIns="0" bIns="0" rtlCol="0" anchor="ctr"/>
          <a:lstStyle/>
          <a:p>
            <a:pPr indent="0" marL="0">
              <a:buNone/>
            </a:pPr>
            <a:r>
              <a:rPr lang="en-US" sz="1000" b="1" dirty="0">
                <a:solidFill>
                  <a:srgbClr val="C5ED3C"/>
                </a:solidFill>
                <a:latin typeface="Aptos" pitchFamily="34" charset="0"/>
                <a:ea typeface="Aptos" pitchFamily="34" charset="-122"/>
                <a:cs typeface="Aptos" pitchFamily="34" charset="-120"/>
              </a:rPr>
              <a:t>Demo path  →  discover  →  compare  →  choose  →  review</a:t>
            </a:r>
            <a:endParaRPr lang="en-US" sz="1000" dirty="0"/>
          </a:p>
        </p:txBody>
      </p:sp>
      <p:sp>
        <p:nvSpPr>
          <p:cNvPr id="76" name="Shape 74"/>
          <p:cNvSpPr/>
          <p:nvPr/>
        </p:nvSpPr>
        <p:spPr>
          <a:xfrm>
            <a:off x="594360" y="5833872"/>
            <a:ext cx="6355080" cy="347472"/>
          </a:xfrm>
          <a:prstGeom prst="roundRect">
            <a:avLst>
              <a:gd name="adj" fmla="val 34211"/>
            </a:avLst>
          </a:prstGeom>
          <a:solidFill>
            <a:srgbClr val="20283C"/>
          </a:solidFill>
          <a:ln w="8890">
            <a:solidFill>
              <a:srgbClr val="20283C"/>
            </a:solidFill>
            <a:prstDash val="solid"/>
          </a:ln>
        </p:spPr>
      </p:sp>
      <p:sp>
        <p:nvSpPr>
          <p:cNvPr id="77" name="Text 75">
            <a:hlinkClick r:id="rId1" tooltip=""/>
          </p:cNvPr>
          <p:cNvSpPr/>
          <p:nvPr/>
        </p:nvSpPr>
        <p:spPr>
          <a:xfrm>
            <a:off x="786384" y="5916168"/>
            <a:ext cx="5943600" cy="155448"/>
          </a:xfrm>
          <a:prstGeom prst="rect">
            <a:avLst/>
          </a:prstGeom>
          <a:noFill/>
          <a:ln/>
        </p:spPr>
        <p:txBody>
          <a:bodyPr wrap="square" lIns="0" tIns="0" rIns="0" bIns="0" rtlCol="0" anchor="ctr"/>
          <a:lstStyle/>
          <a:p>
            <a:pPr indent="0" marL="0">
              <a:buNone/>
            </a:pPr>
            <a:r>
              <a:rPr lang="en-US" sz="1000" b="1" u="sng" dirty="0">
                <a:solidFill>
                  <a:srgbClr val="C5ED3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WORKING MVP  •  event-rank-two.vercel.app</a:t>
            </a:r>
            <a:endParaRPr lang="en-US" sz="1000" dirty="0"/>
          </a:p>
        </p:txBody>
      </p:sp>
      <p:sp>
        <p:nvSpPr>
          <p:cNvPr id="79" name="Text 7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EventRank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EventRank — Discover what is worth attending</dc:title>
  <dc:subject>EventRank: six-slide hackathon proposal and prototype</dc:subject>
  <dc:creator>EventRank Team</dc:creator>
  <cp:lastModifiedBy>EventRank Team</cp:lastModifiedBy>
  <cp:revision>1</cp:revision>
  <dcterms:created xsi:type="dcterms:W3CDTF">2026-10-15T02:33:40Z</dcterms:created>
  <dcterms:modified xsi:type="dcterms:W3CDTF">2026-10-15T02:33:40Z</dcterms:modified>
</cp:coreProperties>
</file>